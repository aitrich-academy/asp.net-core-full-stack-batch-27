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Bell M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A3SsYab5OHBa1DqScJX7PkxSO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BellMT-bold.fntdata"/><Relationship Id="rId23" Type="http://schemas.openxmlformats.org/officeDocument/2006/relationships/font" Target="fonts/BellMT-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BellMT-boldItalic.fntdata"/><Relationship Id="rId25" Type="http://schemas.openxmlformats.org/officeDocument/2006/relationships/font" Target="fonts/BellMT-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Hello everyone, and welcome to Aitrich Academy! Today, we're delving into the world of web development, specifically focusing on HTML Helpers, Razor Page Events, Razor Page Filters, and Razor Page Validations. Get ready for an engaging session packed with valuable insights. Let's explore and learn together!</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HTML Helpers: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Razor Pages, HTML Helpers serve as a set of utility methods simplifying HTML markup generation. These methods offer a convenient and strongly-typed approach to creating HTML elements, form controls, links, and more. By utilizing HTML Helpers, we enhance code readability, maintainability, and reduce the chances of errors in our web development projects. Let's explore the power and benefits of HTML Helpers in the context of Razor Pages.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06" name="Google Shape;10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 are some commonly used HTML Helpers in Razor Pages: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Form Controls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Html.TextBoxFor and Html.PasswordFor: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These helpers are designed to generate &lt;input&gt; elements for text input and password input, respectively.</a:t>
            </a:r>
            <a:endParaRPr/>
          </a:p>
          <a:p>
            <a:pPr indent="0" lvl="0" marL="0" rtl="0" algn="l">
              <a:lnSpc>
                <a:spcPct val="100000"/>
              </a:lnSpc>
              <a:spcBef>
                <a:spcPts val="0"/>
              </a:spcBef>
              <a:spcAft>
                <a:spcPts val="0"/>
              </a:spcAft>
              <a:buSzPts val="1400"/>
              <a:buNone/>
            </a:pPr>
            <a:r>
              <a:rPr lang="en-US"/>
              <a:t>An important feature is their seamless binding to specified model properties, facilitating a robust connection between the user interface and the data model.</a:t>
            </a:r>
            <a:endParaRPr/>
          </a:p>
          <a:p>
            <a:pPr indent="0" lvl="0" marL="0" rtl="0" algn="l">
              <a:lnSpc>
                <a:spcPct val="100000"/>
              </a:lnSpc>
              <a:spcBef>
                <a:spcPts val="0"/>
              </a:spcBef>
              <a:spcAft>
                <a:spcPts val="0"/>
              </a:spcAft>
              <a:buSzPts val="1400"/>
              <a:buNone/>
            </a:pPr>
            <a:r>
              <a:rPr lang="en-US"/>
              <a:t>These HTML Helpers significantly contribute to the efficiency and maintainability of your Razor Pages. </a:t>
            </a:r>
            <a:endParaRPr/>
          </a:p>
        </p:txBody>
      </p:sp>
      <p:sp>
        <p:nvSpPr>
          <p:cNvPr id="118" name="Google Shape;11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Let's now explore additional HTML Helpers tailored for form controls.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Html.CheckBoxFor: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helper is a handy tool for generating checkboxes that seamlessly bind to Boolean model properties.</a:t>
            </a:r>
            <a:endParaRPr/>
          </a:p>
          <a:p>
            <a:pPr indent="0" lvl="0" marL="0" rtl="0" algn="l">
              <a:lnSpc>
                <a:spcPct val="100000"/>
              </a:lnSpc>
              <a:spcBef>
                <a:spcPts val="0"/>
              </a:spcBef>
              <a:spcAft>
                <a:spcPts val="0"/>
              </a:spcAft>
              <a:buSzPts val="1400"/>
              <a:buNone/>
            </a:pPr>
            <a:r>
              <a:rPr lang="en-US"/>
              <a:t>It simplifies the process of integrating user choices, providing a straightforward way to handle Boolean values in your Razor Pages.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Html.RadioButtonFor: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When dealing with options like gender in your forms, this helper generates radio buttons, binding them to either Boolean or enumeration properties.</a:t>
            </a:r>
            <a:endParaRPr/>
          </a:p>
          <a:p>
            <a:pPr indent="0" lvl="0" marL="0" rtl="0" algn="l">
              <a:lnSpc>
                <a:spcPct val="100000"/>
              </a:lnSpc>
              <a:spcBef>
                <a:spcPts val="0"/>
              </a:spcBef>
              <a:spcAft>
                <a:spcPts val="0"/>
              </a:spcAft>
              <a:buSzPts val="1400"/>
              <a:buNone/>
            </a:pPr>
            <a:r>
              <a:rPr lang="en-US"/>
              <a:t>It offers a clean and structured approach to capturing user selections in scenarios where a single choice is required.</a:t>
            </a:r>
            <a:endParaRPr/>
          </a:p>
          <a:p>
            <a:pPr indent="0" lvl="0" marL="0" rtl="0" algn="l">
              <a:lnSpc>
                <a:spcPct val="100000"/>
              </a:lnSpc>
              <a:spcBef>
                <a:spcPts val="0"/>
              </a:spcBef>
              <a:spcAft>
                <a:spcPts val="0"/>
              </a:spcAft>
              <a:buSzPts val="1400"/>
              <a:buNone/>
            </a:pPr>
            <a:r>
              <a:t/>
            </a:r>
            <a:endParaRPr/>
          </a:p>
        </p:txBody>
      </p:sp>
      <p:sp>
        <p:nvSpPr>
          <p:cNvPr id="132" name="Google Shape;13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Links and URLsNow, let's shift our focus to HTML Helpers that aid in creating links and managing URLs.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Html.ActionLink: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versatile helper is designed to generate &lt;a&gt; tags for links to action methods.</a:t>
            </a:r>
            <a:endParaRPr/>
          </a:p>
          <a:p>
            <a:pPr indent="0" lvl="0" marL="0" rtl="0" algn="l">
              <a:lnSpc>
                <a:spcPct val="100000"/>
              </a:lnSpc>
              <a:spcBef>
                <a:spcPts val="0"/>
              </a:spcBef>
              <a:spcAft>
                <a:spcPts val="0"/>
              </a:spcAft>
              <a:buSzPts val="1400"/>
              <a:buNone/>
            </a:pPr>
            <a:r>
              <a:rPr lang="en-US"/>
              <a:t>It proves useful whether you're linking to an action method within the same controller or a different one.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Html.RouteLink: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If you prefer linking based on named routes and their parameters, Html.RouteLink is your go-to helper.</a:t>
            </a:r>
            <a:endParaRPr/>
          </a:p>
          <a:p>
            <a:pPr indent="0" lvl="0" marL="0" rtl="0" algn="l">
              <a:lnSpc>
                <a:spcPct val="100000"/>
              </a:lnSpc>
              <a:spcBef>
                <a:spcPts val="0"/>
              </a:spcBef>
              <a:spcAft>
                <a:spcPts val="0"/>
              </a:spcAft>
              <a:buSzPts val="1400"/>
              <a:buNone/>
            </a:pPr>
            <a:r>
              <a:rPr lang="en-US"/>
              <a:t>It provides a structured way to generate links using predefined routes.</a:t>
            </a:r>
            <a:endParaRPr/>
          </a:p>
          <a:p>
            <a:pPr indent="0" lvl="0" marL="0" rtl="0" algn="l">
              <a:lnSpc>
                <a:spcPct val="100000"/>
              </a:lnSpc>
              <a:spcBef>
                <a:spcPts val="0"/>
              </a:spcBef>
              <a:spcAft>
                <a:spcPts val="0"/>
              </a:spcAft>
              <a:buSzPts val="1400"/>
              <a:buNone/>
            </a:pPr>
            <a:r>
              <a:t/>
            </a:r>
            <a:endParaRPr/>
          </a:p>
        </p:txBody>
      </p:sp>
      <p:sp>
        <p:nvSpPr>
          <p:cNvPr id="145" name="Google Shape;14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Partial Views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Html.Partial: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helper serves as a rendering engine for partial views within the current view.</a:t>
            </a:r>
            <a:endParaRPr/>
          </a:p>
          <a:p>
            <a:pPr indent="0" lvl="0" marL="0" rtl="0" algn="l">
              <a:lnSpc>
                <a:spcPct val="100000"/>
              </a:lnSpc>
              <a:spcBef>
                <a:spcPts val="0"/>
              </a:spcBef>
              <a:spcAft>
                <a:spcPts val="0"/>
              </a:spcAft>
              <a:buSzPts val="1400"/>
              <a:buNone/>
            </a:pPr>
            <a:r>
              <a:rPr lang="en-US"/>
              <a:t>Its primary purpose is to promote the reuse of specific sections of markup across multiple views.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this example, the _Header partial view is seamlessly incorporated into the current view, showcasing the ability to modularize and reuse markup efficiently.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Html.Partial proves to be an invaluable tool for maintaining clean and organized Razor Pages by promoting the reuse of markup elements.</a:t>
            </a:r>
            <a:endParaRPr/>
          </a:p>
        </p:txBody>
      </p:sp>
      <p:sp>
        <p:nvSpPr>
          <p:cNvPr id="160" name="Google Shape;16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Displaying Data</a:t>
            </a:r>
            <a:endParaRPr/>
          </a:p>
          <a:p>
            <a:pPr indent="0" lvl="0" marL="0" rtl="0" algn="l">
              <a:lnSpc>
                <a:spcPct val="100000"/>
              </a:lnSpc>
              <a:spcBef>
                <a:spcPts val="0"/>
              </a:spcBef>
              <a:spcAft>
                <a:spcPts val="0"/>
              </a:spcAft>
              <a:buSzPts val="1400"/>
              <a:buNone/>
            </a:pPr>
            <a:r>
              <a:t/>
            </a:r>
            <a:endParaRPr/>
          </a:p>
          <a:p>
            <a:pPr indent="0" lvl="0" marL="0" marR="0" rtl="0" algn="l">
              <a:lnSpc>
                <a:spcPct val="100000"/>
              </a:lnSpc>
              <a:spcBef>
                <a:spcPts val="0"/>
              </a:spcBef>
              <a:spcAft>
                <a:spcPts val="0"/>
              </a:spcAft>
              <a:buClr>
                <a:srgbClr val="000000"/>
              </a:buClr>
              <a:buSzPts val="1400"/>
              <a:buFont typeface="Arial"/>
              <a:buNone/>
            </a:pPr>
            <a:r>
              <a:rPr lang="en-US" sz="1200">
                <a:solidFill>
                  <a:schemeClr val="lt1"/>
                </a:solidFill>
                <a:latin typeface="Comic Sans MS"/>
                <a:ea typeface="Comic Sans MS"/>
                <a:cs typeface="Comic Sans MS"/>
                <a:sym typeface="Comic Sans MS"/>
              </a:rPr>
              <a:t>Html.DisplayFor: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indispensable helper is your go-to for generating HTML markup to display the value of a model property.</a:t>
            </a:r>
            <a:endParaRPr/>
          </a:p>
          <a:p>
            <a:pPr indent="0" lvl="0" marL="0" rtl="0" algn="l">
              <a:lnSpc>
                <a:spcPct val="100000"/>
              </a:lnSpc>
              <a:spcBef>
                <a:spcPts val="0"/>
              </a:spcBef>
              <a:spcAft>
                <a:spcPts val="0"/>
              </a:spcAft>
              <a:buSzPts val="1400"/>
              <a:buNone/>
            </a:pPr>
            <a:r>
              <a:rPr lang="en-US"/>
              <a:t>It seamlessly applies any specified display templates or formatting, ensuring a clean and visually appealing presentation.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this example, the DisplayFor helper effortlessly renders the value of the UserName property, incorporating any predefined display templates or formatting.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Html.EditorFor: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When it comes to editing data, this helper steps in to generate an appropriate editor control for a model property.</a:t>
            </a:r>
            <a:endParaRPr/>
          </a:p>
          <a:p>
            <a:pPr indent="0" lvl="0" marL="0" rtl="0" algn="l">
              <a:lnSpc>
                <a:spcPct val="100000"/>
              </a:lnSpc>
              <a:spcBef>
                <a:spcPts val="0"/>
              </a:spcBef>
              <a:spcAft>
                <a:spcPts val="0"/>
              </a:spcAft>
              <a:buSzPts val="1400"/>
              <a:buNone/>
            </a:pPr>
            <a:r>
              <a:rPr lang="en-US"/>
              <a:t>It adapts to any specified editor templates, providing a consistent and user-friendly approach to data modification. Here, the EditorFor helper dynamically generates an editor control for the Email property, streamlining the data editing process.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73" name="Google Shape;17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Razor Page Events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Razor Pages, events serve as pivotal points to handle user interactions and respond to specific actions throughout the lifecycle of a page. They provide a dynamic way to respond to user input and execute operations triggered by various events. Let's explore two broad categories of events commonly used in Razor Pages. They are page events and handler events.</a:t>
            </a:r>
            <a:endParaRPr/>
          </a:p>
        </p:txBody>
      </p:sp>
      <p:sp>
        <p:nvSpPr>
          <p:cNvPr id="188" name="Google Shape;18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Page Events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OnGet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OnGet event is triggered when an HTTP GET request is made to the page.</a:t>
            </a:r>
            <a:endParaRPr/>
          </a:p>
          <a:p>
            <a:pPr indent="0" lvl="0" marL="0" rtl="0" algn="l">
              <a:lnSpc>
                <a:spcPct val="100000"/>
              </a:lnSpc>
              <a:spcBef>
                <a:spcPts val="0"/>
              </a:spcBef>
              <a:spcAft>
                <a:spcPts val="0"/>
              </a:spcAft>
              <a:buSzPts val="1400"/>
              <a:buNone/>
            </a:pPr>
            <a:r>
              <a:rPr lang="en-US"/>
              <a:t>This event provides an opportunity to execute logic specifically tailored for handling GET requests.</a:t>
            </a:r>
            <a:endParaRPr/>
          </a:p>
          <a:p>
            <a:pPr indent="0" lvl="0" marL="0" rtl="0" algn="l">
              <a:lnSpc>
                <a:spcPct val="100000"/>
              </a:lnSpc>
              <a:spcBef>
                <a:spcPts val="0"/>
              </a:spcBef>
              <a:spcAft>
                <a:spcPts val="0"/>
              </a:spcAft>
              <a:buSzPts val="1400"/>
              <a:buNone/>
            </a:pPr>
            <a:r>
              <a:rPr lang="en-US"/>
              <a:t>By overriding the OnGet method in your Razor Page's code-behind file (PageModel), you can implement the necessary logic to respond to GET requests.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OnPost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Conversely, the OnPost event comes into play when an HTTP POST request is made to the page.</a:t>
            </a:r>
            <a:endParaRPr/>
          </a:p>
          <a:p>
            <a:pPr indent="0" lvl="0" marL="0" rtl="0" algn="l">
              <a:lnSpc>
                <a:spcPct val="100000"/>
              </a:lnSpc>
              <a:spcBef>
                <a:spcPts val="0"/>
              </a:spcBef>
              <a:spcAft>
                <a:spcPts val="0"/>
              </a:spcAft>
              <a:buSzPts val="1400"/>
              <a:buNone/>
            </a:pPr>
            <a:r>
              <a:rPr lang="en-US"/>
              <a:t>It enables you to handle the specific requirements associated with processing POST requests.</a:t>
            </a:r>
            <a:endParaRPr/>
          </a:p>
          <a:p>
            <a:pPr indent="0" lvl="0" marL="0" rtl="0" algn="l">
              <a:lnSpc>
                <a:spcPct val="100000"/>
              </a:lnSpc>
              <a:spcBef>
                <a:spcPts val="0"/>
              </a:spcBef>
              <a:spcAft>
                <a:spcPts val="0"/>
              </a:spcAft>
              <a:buSzPts val="1400"/>
              <a:buNone/>
            </a:pPr>
            <a:r>
              <a:rPr lang="en-US"/>
              <a:t>Similar to OnGet, you can override the OnPost method in your PageModel to implement logic specific to handling POST requests.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01" name="Google Shape;20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Page Events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OnGetAsync: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OnGetAsync event is triggered in response to an HTTP GET request, allowing for asynchronous operations to be performed during request handling.</a:t>
            </a:r>
            <a:endParaRPr/>
          </a:p>
          <a:p>
            <a:pPr indent="0" lvl="0" marL="0" rtl="0" algn="l">
              <a:lnSpc>
                <a:spcPct val="100000"/>
              </a:lnSpc>
              <a:spcBef>
                <a:spcPts val="0"/>
              </a:spcBef>
              <a:spcAft>
                <a:spcPts val="0"/>
              </a:spcAft>
              <a:buSzPts val="1400"/>
              <a:buNone/>
            </a:pPr>
            <a:r>
              <a:rPr lang="en-US"/>
              <a:t>By marking the method with the async keyword and returning a Task&lt;IActionResult&gt;, you can handle asynchronous tasks seamlessly.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OnPostAsync: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Similarly, the OnPostAsync event accommodates asynchronous operations when dealing with HTTP POST requests.</a:t>
            </a:r>
            <a:endParaRPr/>
          </a:p>
          <a:p>
            <a:pPr indent="0" lvl="0" marL="0" rtl="0" algn="l">
              <a:lnSpc>
                <a:spcPct val="100000"/>
              </a:lnSpc>
              <a:spcBef>
                <a:spcPts val="0"/>
              </a:spcBef>
              <a:spcAft>
                <a:spcPts val="0"/>
              </a:spcAft>
              <a:buSzPts val="1400"/>
              <a:buNone/>
            </a:pPr>
            <a:r>
              <a:rPr lang="en-US"/>
              <a:t>By using the async keyword and returning a Task&lt;IActionResult&gt;, you can execute asynchronous code during the processing of POST requests.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14" name="Google Shape;21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Razor Page Filters :Introducing Razor Page Filters, a powerful feature that empowers you to incorporate cross-cutting concerns seamlessly into your Razor Pages application. These filters enable the execution of code either before or after specific stages in the Razor Pages lifecycle or before and after individual page handler methods.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There are two types of filters in Razor Pages:</a:t>
            </a:r>
            <a:endParaRPr/>
          </a:p>
          <a:p>
            <a:pPr indent="0" lvl="0" marL="0" rtl="0" algn="l">
              <a:lnSpc>
                <a:spcPct val="100000"/>
              </a:lnSpc>
              <a:spcBef>
                <a:spcPts val="0"/>
              </a:spcBef>
              <a:spcAft>
                <a:spcPts val="0"/>
              </a:spcAft>
              <a:buSzPts val="1400"/>
              <a:buNone/>
            </a:pPr>
            <a:r>
              <a:rPr lang="en-US"/>
              <a:t>Page Filters  andHandler Filters.</a:t>
            </a:r>
            <a:endParaRPr/>
          </a:p>
          <a:p>
            <a:pPr indent="0" lvl="0" marL="0" rtl="0" algn="l">
              <a:lnSpc>
                <a:spcPct val="100000"/>
              </a:lnSpc>
              <a:spcBef>
                <a:spcPts val="0"/>
              </a:spcBef>
              <a:spcAft>
                <a:spcPts val="0"/>
              </a:spcAft>
              <a:buSzPts val="1400"/>
              <a:buNone/>
            </a:pPr>
            <a:r>
              <a:t/>
            </a:r>
            <a:endParaRPr/>
          </a:p>
        </p:txBody>
      </p:sp>
      <p:sp>
        <p:nvSpPr>
          <p:cNvPr id="227" name="Google Shape;22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Razor Page Filters: Page Filters: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These are like the captains of the entire ship, applied at the page level.</a:t>
            </a:r>
            <a:endParaRPr/>
          </a:p>
          <a:p>
            <a:pPr indent="0" lvl="0" marL="0" rtl="0" algn="l">
              <a:lnSpc>
                <a:spcPct val="100000"/>
              </a:lnSpc>
              <a:spcBef>
                <a:spcPts val="0"/>
              </a:spcBef>
              <a:spcAft>
                <a:spcPts val="0"/>
              </a:spcAft>
              <a:buSzPts val="1400"/>
              <a:buNone/>
            </a:pPr>
            <a:r>
              <a:rPr lang="en-US"/>
              <a:t>Picture them as the ones who set the scene before or after the entire page does its thing.</a:t>
            </a:r>
            <a:endParaRPr/>
          </a:p>
          <a:p>
            <a:pPr indent="0" lvl="0" marL="0" rtl="0" algn="l">
              <a:lnSpc>
                <a:spcPct val="100000"/>
              </a:lnSpc>
              <a:spcBef>
                <a:spcPts val="0"/>
              </a:spcBef>
              <a:spcAft>
                <a:spcPts val="0"/>
              </a:spcAft>
              <a:buSzPts val="1400"/>
              <a:buNone/>
            </a:pPr>
            <a:r>
              <a:rPr lang="en-US"/>
              <a:t>You'll find these filters in the PageModel base class, your go-to place for defining what special actions should happen for the entire page.</a:t>
            </a:r>
            <a:endParaRPr/>
          </a:p>
          <a:p>
            <a:pPr indent="0" lvl="0" marL="0" rtl="0" algn="l">
              <a:lnSpc>
                <a:spcPct val="100000"/>
              </a:lnSpc>
              <a:spcBef>
                <a:spcPts val="0"/>
              </a:spcBef>
              <a:spcAft>
                <a:spcPts val="0"/>
              </a:spcAft>
              <a:buSzPts val="1400"/>
              <a:buNone/>
            </a:pPr>
            <a:r>
              <a:rPr lang="en-US"/>
              <a:t>Page Filters are perfect for handling big scenarios like making sure users are who they say they are, deciding who gets access, keeping a record of what happens, or even speeding things up with clever caching tricks.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Handler Filters: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Now, zoom in a bit. Handler Filters are the detail-oriented buddies, applied at the individual page handler method level.</a:t>
            </a:r>
            <a:endParaRPr/>
          </a:p>
          <a:p>
            <a:pPr indent="0" lvl="0" marL="0" rtl="0" algn="l">
              <a:lnSpc>
                <a:spcPct val="100000"/>
              </a:lnSpc>
              <a:spcBef>
                <a:spcPts val="0"/>
              </a:spcBef>
              <a:spcAft>
                <a:spcPts val="0"/>
              </a:spcAft>
              <a:buSzPts val="1400"/>
              <a:buNone/>
            </a:pPr>
            <a:r>
              <a:rPr lang="en-US"/>
              <a:t>They are like the guardians, ready to perform actions just before or after a specific handler method does its job.</a:t>
            </a:r>
            <a:endParaRPr/>
          </a:p>
          <a:p>
            <a:pPr indent="0" lvl="0" marL="0" rtl="0" algn="l">
              <a:lnSpc>
                <a:spcPct val="100000"/>
              </a:lnSpc>
              <a:spcBef>
                <a:spcPts val="0"/>
              </a:spcBef>
              <a:spcAft>
                <a:spcPts val="0"/>
              </a:spcAft>
              <a:buSzPts val="1400"/>
              <a:buNone/>
            </a:pPr>
            <a:r>
              <a:rPr lang="en-US"/>
              <a:t>You define these using attributes, a bit like special tags that tell your code what to do.</a:t>
            </a:r>
            <a:endParaRPr/>
          </a:p>
          <a:p>
            <a:pPr indent="0" lvl="0" marL="0" rtl="0" algn="l">
              <a:lnSpc>
                <a:spcPct val="100000"/>
              </a:lnSpc>
              <a:spcBef>
                <a:spcPts val="0"/>
              </a:spcBef>
              <a:spcAft>
                <a:spcPts val="0"/>
              </a:spcAft>
              <a:buSzPts val="1400"/>
              <a:buNone/>
            </a:pPr>
            <a:r>
              <a:rPr lang="en-US"/>
              <a:t>Handler Filters are fantastic for handling specific tasks like checking if the user's input is valid, dealing with data binding, logging what's going on, and more.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40" name="Google Shape;24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Razor Page Validations: </a:t>
            </a:r>
            <a:endParaRPr/>
          </a:p>
          <a:p>
            <a:pPr indent="0" lvl="0" marL="0" rtl="0" algn="l">
              <a:lnSpc>
                <a:spcPct val="100000"/>
              </a:lnSpc>
              <a:spcBef>
                <a:spcPts val="0"/>
              </a:spcBef>
              <a:spcAft>
                <a:spcPts val="0"/>
              </a:spcAft>
              <a:buSzPts val="1400"/>
              <a:buNone/>
            </a:pPr>
            <a:r>
              <a:rPr lang="en-US"/>
              <a:t>Let's talk about a crucial aspect of Razor Pages – Validation. This is all about making sure the data users enter into our pages is top-notch. We want to ensure it meets certain criteria and doesn't cause any issues down the line.</a:t>
            </a:r>
            <a:endParaRPr/>
          </a:p>
          <a:p>
            <a:pPr indent="0" lvl="0" marL="0" rtl="0" algn="l">
              <a:lnSpc>
                <a:spcPct val="100000"/>
              </a:lnSpc>
              <a:spcBef>
                <a:spcPts val="0"/>
              </a:spcBef>
              <a:spcAft>
                <a:spcPts val="0"/>
              </a:spcAft>
              <a:buSzPts val="1400"/>
              <a:buNone/>
            </a:pPr>
            <a:r>
              <a:rPr lang="en-US"/>
              <a:t>There are various ways to implement validations in Razor Pages, including client-side and server-side validations.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53" name="Google Shape;25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Client Side Validations:</a:t>
            </a:r>
            <a:endParaRPr/>
          </a:p>
          <a:p>
            <a:pPr indent="0" lvl="0" marL="0" rtl="0" algn="l">
              <a:lnSpc>
                <a:spcPct val="100000"/>
              </a:lnSpc>
              <a:spcBef>
                <a:spcPts val="0"/>
              </a:spcBef>
              <a:spcAft>
                <a:spcPts val="0"/>
              </a:spcAft>
              <a:buSzPts val="1400"/>
              <a:buNone/>
            </a:pPr>
            <a:r>
              <a:rPr lang="en-US"/>
              <a:t>Now, let's zoom into the world of Client-Side Validations, specifically for those essential Required Fields.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User-Friendly Interaction: Required fields are like the foundation of our user inputs. We want to make sure users provide information where it's crucial. Enter Client-Side Validations, the friendly guardians that ensure users don't miss those key details.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Simple Annotations: In Razor Pages, we can mark fields as required effortlessly using the data-val-required attribute. It's like putting up a sign saying, "Hey, this field can't be empty!"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Automatic JavaScript Magic: Here's the cool part – Razor Pages automatically generates the necessary JavaScript validation code based on these attributes. It's like having a virtual assistant doing the heavy lifting for us. No need to code everything manually.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this snippet, we've told Razor Pages that the "Name" field is required. It generates the JavaScript validation code behind the scenes, making sure users get a prompt if they forget to fill in their name.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Client Side Validation: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Let's delve deeper into the world of Client-Side Validations, specifically focusing on ensuring our data has the right type.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Precision with Data Types: We not only want our fields to be required, but we also want them to contain the right kind of data. Data Type Validations help us set expectations.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Model Annotations: In Razor Pages, we achieve this by using data annotations directly on our model properties. It's like providing a user manual for our data – specifying what's expected and what's not.</a:t>
            </a:r>
            <a:endParaRPr/>
          </a:p>
          <a:p>
            <a:pPr indent="0" lvl="0" marL="0" rtl="0" algn="l">
              <a:lnSpc>
                <a:spcPct val="100000"/>
              </a:lnSpc>
              <a:spcBef>
                <a:spcPts val="0"/>
              </a:spcBef>
              <a:spcAft>
                <a:spcPts val="0"/>
              </a:spcAft>
              <a:buSzPts val="1400"/>
              <a:buNone/>
            </a:pPr>
            <a:r>
              <a:rPr lang="en-US"/>
              <a:t>Take a look at this simple model: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Here, we're saying that the "Name" field is required, and the "Age" field should be a number between 18 and 99.</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Automatic JavaScript Generation: Just like with required fields, Razor Pages automatically generates the necessary JavaScript validation code based on these data annotations. It's like having a built-in spellchecker for our data types.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Server Side Validation: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Let's uncover the magic behind ModelState in Razor Pages – the guardian that ensures our data is not just validated on the client side, but also on the server side.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Automatic Model Validation: Razor Pages comes equipped with an automatic validation mechanism during model binding. This means as soon as data comes in, it undergoes a round of checks to ensure it meets the specified criteria.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Checking the State: The ModelState.IsValid property is our key to understanding whether the data passed the validation checks. It's like the traffic light telling us whether it's safe to proceed or if there's an issue.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Take a look at this code snippet in an OnPost method: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Here, we're saying, "If the ModelState is not valid, let's stay on the page and display error messages. If it's valid, let's process the data and redirect to a success page."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Seamless Integration: The beauty of this is that it seamlessly integrates both client-side and server-side validations. Users get immediate feedback, and we have an additional layer of validation on the server to ensure data integrity.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So, with ModelState, we're not just stopping at client-side validations; we're ensuring a robust data validation process from both ends.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Server Side Validation: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Let's talk about a powerful tool in the Razor Pages toolkit – Custom Validations. When the standard validations don't quite fit the bill, custom attributes step in to save the day.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Crafting Your Own Rules: Ever had a validation requirement that felt unique? That's where Custom Validations come into play. You get to be the architect of your validation logic.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Creating Custom Validation Attribute: How do we do it? Well, you can create your very own custom validation attribute by deriving from the ValidationAttribute class and overriding the IsValid method. It's like tailoring a suit – custom-fit for your specific needs.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Take a look at this code snippet:</a:t>
            </a:r>
            <a:endParaRPr/>
          </a:p>
          <a:p>
            <a:pPr indent="0" lvl="0" marL="0" rtl="0" algn="l">
              <a:lnSpc>
                <a:spcPct val="100000"/>
              </a:lnSpc>
              <a:spcBef>
                <a:spcPts val="0"/>
              </a:spcBef>
              <a:spcAft>
                <a:spcPts val="0"/>
              </a:spcAft>
              <a:buSzPts val="1400"/>
              <a:buNone/>
            </a:pPr>
            <a:r>
              <a:rPr lang="en-US"/>
              <a:t>Here, we've created a custom validation attribute called CustomValidationAttribute. If the validation logic within it fails, it returns a ValidationResult with a custom error message.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Endless Possibilities: This opens up a world of possibilities. Whether it's checking complex business rules, unique formatting requirements, or anything in between, you have the flexibility to mold your validation rules.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Custom Validations in Razor Pages are your ticket to tailor-made validation logic, ensuring your application adheres to precisely the rules you define.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Thank you for joining this session!</a:t>
            </a:r>
            <a:endParaRPr/>
          </a:p>
        </p:txBody>
      </p:sp>
      <p:sp>
        <p:nvSpPr>
          <p:cNvPr id="318" name="Google Shape;31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100000"/>
              </a:lnSpc>
              <a:spcBef>
                <a:spcPts val="360"/>
              </a:spcBef>
              <a:spcAft>
                <a:spcPts val="0"/>
              </a:spcAft>
              <a:buClr>
                <a:schemeClr val="dk1"/>
              </a:buClr>
              <a:buSzPts val="1800"/>
              <a:buFont typeface="Arial"/>
              <a:buNone/>
              <a:defRPr sz="1800"/>
            </a:lvl1pPr>
            <a:lvl2pPr lvl="1" algn="ctr">
              <a:lnSpc>
                <a:spcPct val="100000"/>
              </a:lnSpc>
              <a:spcBef>
                <a:spcPts val="300"/>
              </a:spcBef>
              <a:spcAft>
                <a:spcPts val="0"/>
              </a:spcAft>
              <a:buClr>
                <a:schemeClr val="dk1"/>
              </a:buClr>
              <a:buSzPts val="1500"/>
              <a:buFont typeface="Arial"/>
              <a:buNone/>
              <a:defRPr sz="1500"/>
            </a:lvl2pPr>
            <a:lvl3pPr lvl="2" algn="ctr">
              <a:lnSpc>
                <a:spcPct val="100000"/>
              </a:lnSpc>
              <a:spcBef>
                <a:spcPts val="270"/>
              </a:spcBef>
              <a:spcAft>
                <a:spcPts val="0"/>
              </a:spcAft>
              <a:buClr>
                <a:schemeClr val="dk1"/>
              </a:buClr>
              <a:buSzPts val="1350"/>
              <a:buFont typeface="Arial"/>
              <a:buNone/>
              <a:defRPr sz="1350"/>
            </a:lvl3pPr>
            <a:lvl4pPr lvl="3" algn="ctr">
              <a:lnSpc>
                <a:spcPct val="100000"/>
              </a:lnSpc>
              <a:spcBef>
                <a:spcPts val="240"/>
              </a:spcBef>
              <a:spcAft>
                <a:spcPts val="0"/>
              </a:spcAft>
              <a:buClr>
                <a:schemeClr val="dk1"/>
              </a:buClr>
              <a:buSzPts val="1200"/>
              <a:buFont typeface="Arial"/>
              <a:buNone/>
              <a:defRPr sz="1200"/>
            </a:lvl4pPr>
            <a:lvl5pPr lvl="4" algn="ctr">
              <a:lnSpc>
                <a:spcPct val="100000"/>
              </a:lnSpc>
              <a:spcBef>
                <a:spcPts val="240"/>
              </a:spcBef>
              <a:spcAft>
                <a:spcPts val="0"/>
              </a:spcAft>
              <a:buClr>
                <a:schemeClr val="dk1"/>
              </a:buClr>
              <a:buSzPts val="1200"/>
              <a:buFont typeface="Arial"/>
              <a:buNone/>
              <a:defRPr sz="1200"/>
            </a:lvl5pPr>
            <a:lvl6pPr lvl="5" algn="ctr">
              <a:lnSpc>
                <a:spcPct val="100000"/>
              </a:lnSpc>
              <a:spcBef>
                <a:spcPts val="240"/>
              </a:spcBef>
              <a:spcAft>
                <a:spcPts val="0"/>
              </a:spcAft>
              <a:buClr>
                <a:schemeClr val="dk1"/>
              </a:buClr>
              <a:buSzPts val="1200"/>
              <a:buFont typeface="Arial"/>
              <a:buNone/>
              <a:defRPr sz="1200"/>
            </a:lvl6pPr>
            <a:lvl7pPr lvl="6" algn="ctr">
              <a:lnSpc>
                <a:spcPct val="100000"/>
              </a:lnSpc>
              <a:spcBef>
                <a:spcPts val="240"/>
              </a:spcBef>
              <a:spcAft>
                <a:spcPts val="0"/>
              </a:spcAft>
              <a:buClr>
                <a:schemeClr val="dk1"/>
              </a:buClr>
              <a:buSzPts val="1200"/>
              <a:buFont typeface="Arial"/>
              <a:buNone/>
              <a:defRPr sz="1200"/>
            </a:lvl7pPr>
            <a:lvl8pPr lvl="7" algn="ctr">
              <a:lnSpc>
                <a:spcPct val="100000"/>
              </a:lnSpc>
              <a:spcBef>
                <a:spcPts val="240"/>
              </a:spcBef>
              <a:spcAft>
                <a:spcPts val="0"/>
              </a:spcAft>
              <a:buClr>
                <a:schemeClr val="dk1"/>
              </a:buClr>
              <a:buSzPts val="1200"/>
              <a:buFont typeface="Arial"/>
              <a:buNone/>
              <a:defRPr sz="1200"/>
            </a:lvl8pPr>
            <a:lvl9pPr lvl="8" algn="ctr">
              <a:lnSpc>
                <a:spcPct val="100000"/>
              </a:lnSpc>
              <a:spcBef>
                <a:spcPts val="240"/>
              </a:spcBef>
              <a:spcAft>
                <a:spcPts val="0"/>
              </a:spcAft>
              <a:buClr>
                <a:schemeClr val="dk1"/>
              </a:buClr>
              <a:buSzPts val="1200"/>
              <a:buFont typeface="Arial"/>
              <a:buNone/>
              <a:defRPr sz="1200"/>
            </a:lvl9pPr>
          </a:lstStyle>
          <a:p/>
        </p:txBody>
      </p:sp>
      <p:sp>
        <p:nvSpPr>
          <p:cNvPr id="18" name="Google Shape;18;p36"/>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p3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7"/>
          <p:cNvSpPr txBox="1"/>
          <p:nvPr>
            <p:ph idx="1" type="body"/>
          </p:nvPr>
        </p:nvSpPr>
        <p:spPr>
          <a:xfrm>
            <a:off x="609600" y="1600200"/>
            <a:ext cx="5376672"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7"/>
          <p:cNvSpPr txBox="1"/>
          <p:nvPr>
            <p:ph idx="2" type="body"/>
          </p:nvPr>
        </p:nvSpPr>
        <p:spPr>
          <a:xfrm>
            <a:off x="6205728" y="1600200"/>
            <a:ext cx="5376672"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37"/>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7"/>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7"/>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8"/>
          <p:cNvSpPr txBox="1"/>
          <p:nvPr>
            <p:ph idx="1" type="body"/>
          </p:nvPr>
        </p:nvSpPr>
        <p:spPr>
          <a:xfrm>
            <a:off x="609600" y="1600200"/>
            <a:ext cx="109728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 name="Google Shape;31;p38"/>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8"/>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8"/>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39"/>
          <p:cNvSpPr txBox="1"/>
          <p:nvPr>
            <p:ph type="title"/>
          </p:nvPr>
        </p:nvSpPr>
        <p:spPr>
          <a:xfrm>
            <a:off x="831851" y="1709738"/>
            <a:ext cx="10515600" cy="2852737"/>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9"/>
          <p:cNvSpPr txBox="1"/>
          <p:nvPr>
            <p:ph idx="1" type="body"/>
          </p:nvPr>
        </p:nvSpPr>
        <p:spPr>
          <a:xfrm>
            <a:off x="831851"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60"/>
              </a:spcBef>
              <a:spcAft>
                <a:spcPts val="0"/>
              </a:spcAft>
              <a:buClr>
                <a:srgbClr val="888888"/>
              </a:buClr>
              <a:buSzPts val="1800"/>
              <a:buFont typeface="Arial"/>
              <a:buNone/>
              <a:defRPr sz="1800">
                <a:solidFill>
                  <a:srgbClr val="888888"/>
                </a:solidFill>
              </a:defRPr>
            </a:lvl1pPr>
            <a:lvl2pPr indent="-228600" lvl="1" marL="914400" algn="l">
              <a:lnSpc>
                <a:spcPct val="100000"/>
              </a:lnSpc>
              <a:spcBef>
                <a:spcPts val="300"/>
              </a:spcBef>
              <a:spcAft>
                <a:spcPts val="0"/>
              </a:spcAft>
              <a:buClr>
                <a:srgbClr val="888888"/>
              </a:buClr>
              <a:buSzPts val="1500"/>
              <a:buFont typeface="Arial"/>
              <a:buNone/>
              <a:defRPr sz="1500">
                <a:solidFill>
                  <a:srgbClr val="888888"/>
                </a:solidFill>
              </a:defRPr>
            </a:lvl2pPr>
            <a:lvl3pPr indent="-228600" lvl="2" marL="1371600" algn="l">
              <a:lnSpc>
                <a:spcPct val="100000"/>
              </a:lnSpc>
              <a:spcBef>
                <a:spcPts val="270"/>
              </a:spcBef>
              <a:spcAft>
                <a:spcPts val="0"/>
              </a:spcAft>
              <a:buClr>
                <a:srgbClr val="888888"/>
              </a:buClr>
              <a:buSzPts val="1350"/>
              <a:buFont typeface="Arial"/>
              <a:buNone/>
              <a:defRPr sz="1350">
                <a:solidFill>
                  <a:srgbClr val="888888"/>
                </a:solidFill>
              </a:defRPr>
            </a:lvl3pPr>
            <a:lvl4pPr indent="-228600" lvl="3" marL="1828800" algn="l">
              <a:lnSpc>
                <a:spcPct val="100000"/>
              </a:lnSpc>
              <a:spcBef>
                <a:spcPts val="240"/>
              </a:spcBef>
              <a:spcAft>
                <a:spcPts val="0"/>
              </a:spcAft>
              <a:buClr>
                <a:srgbClr val="888888"/>
              </a:buClr>
              <a:buSzPts val="1200"/>
              <a:buFont typeface="Arial"/>
              <a:buNone/>
              <a:defRPr sz="1200">
                <a:solidFill>
                  <a:srgbClr val="888888"/>
                </a:solidFill>
              </a:defRPr>
            </a:lvl4pPr>
            <a:lvl5pPr indent="-228600" lvl="4" marL="2286000" algn="l">
              <a:lnSpc>
                <a:spcPct val="100000"/>
              </a:lnSpc>
              <a:spcBef>
                <a:spcPts val="240"/>
              </a:spcBef>
              <a:spcAft>
                <a:spcPts val="0"/>
              </a:spcAft>
              <a:buClr>
                <a:srgbClr val="888888"/>
              </a:buClr>
              <a:buSzPts val="1200"/>
              <a:buFont typeface="Arial"/>
              <a:buNone/>
              <a:defRPr sz="1200">
                <a:solidFill>
                  <a:srgbClr val="888888"/>
                </a:solidFill>
              </a:defRPr>
            </a:lvl5pPr>
            <a:lvl6pPr indent="-228600" lvl="5" marL="2743200" algn="l">
              <a:lnSpc>
                <a:spcPct val="100000"/>
              </a:lnSpc>
              <a:spcBef>
                <a:spcPts val="240"/>
              </a:spcBef>
              <a:spcAft>
                <a:spcPts val="0"/>
              </a:spcAft>
              <a:buClr>
                <a:srgbClr val="888888"/>
              </a:buClr>
              <a:buSzPts val="1200"/>
              <a:buFont typeface="Arial"/>
              <a:buNone/>
              <a:defRPr sz="1200">
                <a:solidFill>
                  <a:srgbClr val="888888"/>
                </a:solidFill>
              </a:defRPr>
            </a:lvl6pPr>
            <a:lvl7pPr indent="-228600" lvl="6" marL="3200400" algn="l">
              <a:lnSpc>
                <a:spcPct val="100000"/>
              </a:lnSpc>
              <a:spcBef>
                <a:spcPts val="240"/>
              </a:spcBef>
              <a:spcAft>
                <a:spcPts val="0"/>
              </a:spcAft>
              <a:buClr>
                <a:srgbClr val="888888"/>
              </a:buClr>
              <a:buSzPts val="1200"/>
              <a:buFont typeface="Arial"/>
              <a:buNone/>
              <a:defRPr sz="1200">
                <a:solidFill>
                  <a:srgbClr val="888888"/>
                </a:solidFill>
              </a:defRPr>
            </a:lvl7pPr>
            <a:lvl8pPr indent="-228600" lvl="7" marL="3657600" algn="l">
              <a:lnSpc>
                <a:spcPct val="100000"/>
              </a:lnSpc>
              <a:spcBef>
                <a:spcPts val="240"/>
              </a:spcBef>
              <a:spcAft>
                <a:spcPts val="0"/>
              </a:spcAft>
              <a:buClr>
                <a:srgbClr val="888888"/>
              </a:buClr>
              <a:buSzPts val="1200"/>
              <a:buFont typeface="Arial"/>
              <a:buNone/>
              <a:defRPr sz="1200">
                <a:solidFill>
                  <a:srgbClr val="888888"/>
                </a:solidFill>
              </a:defRPr>
            </a:lvl8pPr>
            <a:lvl9pPr indent="-228600" lvl="8" marL="4114800" algn="l">
              <a:lnSpc>
                <a:spcPct val="100000"/>
              </a:lnSpc>
              <a:spcBef>
                <a:spcPts val="240"/>
              </a:spcBef>
              <a:spcAft>
                <a:spcPts val="0"/>
              </a:spcAft>
              <a:buClr>
                <a:srgbClr val="888888"/>
              </a:buClr>
              <a:buSzPts val="1200"/>
              <a:buFont typeface="Arial"/>
              <a:buNone/>
              <a:defRPr sz="1200">
                <a:solidFill>
                  <a:srgbClr val="888888"/>
                </a:solidFill>
              </a:defRPr>
            </a:lvl9pPr>
          </a:lstStyle>
          <a:p/>
        </p:txBody>
      </p:sp>
      <p:sp>
        <p:nvSpPr>
          <p:cNvPr id="37" name="Google Shape;37;p39"/>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9"/>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9"/>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360"/>
              </a:spcBef>
              <a:spcAft>
                <a:spcPts val="0"/>
              </a:spcAft>
              <a:buClr>
                <a:schemeClr val="dk1"/>
              </a:buClr>
              <a:buSzPts val="1800"/>
              <a:buFont typeface="Arial"/>
              <a:buNone/>
              <a:defRPr b="1" sz="1800"/>
            </a:lvl1pPr>
            <a:lvl2pPr indent="-228600" lvl="1" marL="914400" algn="l">
              <a:lnSpc>
                <a:spcPct val="100000"/>
              </a:lnSpc>
              <a:spcBef>
                <a:spcPts val="300"/>
              </a:spcBef>
              <a:spcAft>
                <a:spcPts val="0"/>
              </a:spcAft>
              <a:buClr>
                <a:schemeClr val="dk1"/>
              </a:buClr>
              <a:buSzPts val="1500"/>
              <a:buFont typeface="Arial"/>
              <a:buNone/>
              <a:defRPr b="1" sz="1500"/>
            </a:lvl2pPr>
            <a:lvl3pPr indent="-228600" lvl="2" marL="1371600" algn="l">
              <a:lnSpc>
                <a:spcPct val="100000"/>
              </a:lnSpc>
              <a:spcBef>
                <a:spcPts val="270"/>
              </a:spcBef>
              <a:spcAft>
                <a:spcPts val="0"/>
              </a:spcAft>
              <a:buClr>
                <a:schemeClr val="dk1"/>
              </a:buClr>
              <a:buSzPts val="1350"/>
              <a:buFont typeface="Arial"/>
              <a:buNone/>
              <a:defRPr b="1" sz="1350"/>
            </a:lvl3pPr>
            <a:lvl4pPr indent="-228600" lvl="3" marL="1828800" algn="l">
              <a:lnSpc>
                <a:spcPct val="100000"/>
              </a:lnSpc>
              <a:spcBef>
                <a:spcPts val="240"/>
              </a:spcBef>
              <a:spcAft>
                <a:spcPts val="0"/>
              </a:spcAft>
              <a:buClr>
                <a:schemeClr val="dk1"/>
              </a:buClr>
              <a:buSzPts val="1200"/>
              <a:buFont typeface="Arial"/>
              <a:buNone/>
              <a:defRPr b="1" sz="1200"/>
            </a:lvl4pPr>
            <a:lvl5pPr indent="-228600" lvl="4" marL="2286000" algn="l">
              <a:lnSpc>
                <a:spcPct val="100000"/>
              </a:lnSpc>
              <a:spcBef>
                <a:spcPts val="240"/>
              </a:spcBef>
              <a:spcAft>
                <a:spcPts val="0"/>
              </a:spcAft>
              <a:buClr>
                <a:schemeClr val="dk1"/>
              </a:buClr>
              <a:buSzPts val="1200"/>
              <a:buFont typeface="Arial"/>
              <a:buNone/>
              <a:defRPr b="1" sz="1200"/>
            </a:lvl5pPr>
            <a:lvl6pPr indent="-228600" lvl="5" marL="2743200" algn="l">
              <a:lnSpc>
                <a:spcPct val="100000"/>
              </a:lnSpc>
              <a:spcBef>
                <a:spcPts val="240"/>
              </a:spcBef>
              <a:spcAft>
                <a:spcPts val="0"/>
              </a:spcAft>
              <a:buClr>
                <a:schemeClr val="dk1"/>
              </a:buClr>
              <a:buSzPts val="1200"/>
              <a:buFont typeface="Arial"/>
              <a:buNone/>
              <a:defRPr b="1" sz="1200"/>
            </a:lvl6pPr>
            <a:lvl7pPr indent="-228600" lvl="6" marL="3200400" algn="l">
              <a:lnSpc>
                <a:spcPct val="100000"/>
              </a:lnSpc>
              <a:spcBef>
                <a:spcPts val="240"/>
              </a:spcBef>
              <a:spcAft>
                <a:spcPts val="0"/>
              </a:spcAft>
              <a:buClr>
                <a:schemeClr val="dk1"/>
              </a:buClr>
              <a:buSzPts val="1200"/>
              <a:buFont typeface="Arial"/>
              <a:buNone/>
              <a:defRPr b="1" sz="1200"/>
            </a:lvl7pPr>
            <a:lvl8pPr indent="-228600" lvl="7" marL="3657600" algn="l">
              <a:lnSpc>
                <a:spcPct val="100000"/>
              </a:lnSpc>
              <a:spcBef>
                <a:spcPts val="240"/>
              </a:spcBef>
              <a:spcAft>
                <a:spcPts val="0"/>
              </a:spcAft>
              <a:buClr>
                <a:schemeClr val="dk1"/>
              </a:buClr>
              <a:buSzPts val="1200"/>
              <a:buFont typeface="Arial"/>
              <a:buNone/>
              <a:defRPr b="1" sz="1200"/>
            </a:lvl8pPr>
            <a:lvl9pPr indent="-228600" lvl="8" marL="4114800" algn="l">
              <a:lnSpc>
                <a:spcPct val="100000"/>
              </a:lnSpc>
              <a:spcBef>
                <a:spcPts val="240"/>
              </a:spcBef>
              <a:spcAft>
                <a:spcPts val="0"/>
              </a:spcAft>
              <a:buClr>
                <a:schemeClr val="dk1"/>
              </a:buClr>
              <a:buSzPts val="1200"/>
              <a:buFont typeface="Arial"/>
              <a:buNone/>
              <a:defRPr b="1" sz="1200"/>
            </a:lvl9pPr>
          </a:lstStyle>
          <a:p/>
        </p:txBody>
      </p:sp>
      <p:sp>
        <p:nvSpPr>
          <p:cNvPr id="43" name="Google Shape;43;p4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 name="Google Shape;44;p4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360"/>
              </a:spcBef>
              <a:spcAft>
                <a:spcPts val="0"/>
              </a:spcAft>
              <a:buClr>
                <a:schemeClr val="dk1"/>
              </a:buClr>
              <a:buSzPts val="1800"/>
              <a:buFont typeface="Arial"/>
              <a:buNone/>
              <a:defRPr b="1" sz="1800"/>
            </a:lvl1pPr>
            <a:lvl2pPr indent="-228600" lvl="1" marL="914400" algn="l">
              <a:lnSpc>
                <a:spcPct val="100000"/>
              </a:lnSpc>
              <a:spcBef>
                <a:spcPts val="300"/>
              </a:spcBef>
              <a:spcAft>
                <a:spcPts val="0"/>
              </a:spcAft>
              <a:buClr>
                <a:schemeClr val="dk1"/>
              </a:buClr>
              <a:buSzPts val="1500"/>
              <a:buFont typeface="Arial"/>
              <a:buNone/>
              <a:defRPr b="1" sz="1500"/>
            </a:lvl2pPr>
            <a:lvl3pPr indent="-228600" lvl="2" marL="1371600" algn="l">
              <a:lnSpc>
                <a:spcPct val="100000"/>
              </a:lnSpc>
              <a:spcBef>
                <a:spcPts val="270"/>
              </a:spcBef>
              <a:spcAft>
                <a:spcPts val="0"/>
              </a:spcAft>
              <a:buClr>
                <a:schemeClr val="dk1"/>
              </a:buClr>
              <a:buSzPts val="1350"/>
              <a:buFont typeface="Arial"/>
              <a:buNone/>
              <a:defRPr b="1" sz="1350"/>
            </a:lvl3pPr>
            <a:lvl4pPr indent="-228600" lvl="3" marL="1828800" algn="l">
              <a:lnSpc>
                <a:spcPct val="100000"/>
              </a:lnSpc>
              <a:spcBef>
                <a:spcPts val="240"/>
              </a:spcBef>
              <a:spcAft>
                <a:spcPts val="0"/>
              </a:spcAft>
              <a:buClr>
                <a:schemeClr val="dk1"/>
              </a:buClr>
              <a:buSzPts val="1200"/>
              <a:buFont typeface="Arial"/>
              <a:buNone/>
              <a:defRPr b="1" sz="1200"/>
            </a:lvl4pPr>
            <a:lvl5pPr indent="-228600" lvl="4" marL="2286000" algn="l">
              <a:lnSpc>
                <a:spcPct val="100000"/>
              </a:lnSpc>
              <a:spcBef>
                <a:spcPts val="240"/>
              </a:spcBef>
              <a:spcAft>
                <a:spcPts val="0"/>
              </a:spcAft>
              <a:buClr>
                <a:schemeClr val="dk1"/>
              </a:buClr>
              <a:buSzPts val="1200"/>
              <a:buFont typeface="Arial"/>
              <a:buNone/>
              <a:defRPr b="1" sz="1200"/>
            </a:lvl5pPr>
            <a:lvl6pPr indent="-228600" lvl="5" marL="2743200" algn="l">
              <a:lnSpc>
                <a:spcPct val="100000"/>
              </a:lnSpc>
              <a:spcBef>
                <a:spcPts val="240"/>
              </a:spcBef>
              <a:spcAft>
                <a:spcPts val="0"/>
              </a:spcAft>
              <a:buClr>
                <a:schemeClr val="dk1"/>
              </a:buClr>
              <a:buSzPts val="1200"/>
              <a:buFont typeface="Arial"/>
              <a:buNone/>
              <a:defRPr b="1" sz="1200"/>
            </a:lvl6pPr>
            <a:lvl7pPr indent="-228600" lvl="6" marL="3200400" algn="l">
              <a:lnSpc>
                <a:spcPct val="100000"/>
              </a:lnSpc>
              <a:spcBef>
                <a:spcPts val="240"/>
              </a:spcBef>
              <a:spcAft>
                <a:spcPts val="0"/>
              </a:spcAft>
              <a:buClr>
                <a:schemeClr val="dk1"/>
              </a:buClr>
              <a:buSzPts val="1200"/>
              <a:buFont typeface="Arial"/>
              <a:buNone/>
              <a:defRPr b="1" sz="1200"/>
            </a:lvl7pPr>
            <a:lvl8pPr indent="-228600" lvl="7" marL="3657600" algn="l">
              <a:lnSpc>
                <a:spcPct val="100000"/>
              </a:lnSpc>
              <a:spcBef>
                <a:spcPts val="240"/>
              </a:spcBef>
              <a:spcAft>
                <a:spcPts val="0"/>
              </a:spcAft>
              <a:buClr>
                <a:schemeClr val="dk1"/>
              </a:buClr>
              <a:buSzPts val="1200"/>
              <a:buFont typeface="Arial"/>
              <a:buNone/>
              <a:defRPr b="1" sz="1200"/>
            </a:lvl8pPr>
            <a:lvl9pPr indent="-228600" lvl="8" marL="4114800" algn="l">
              <a:lnSpc>
                <a:spcPct val="100000"/>
              </a:lnSpc>
              <a:spcBef>
                <a:spcPts val="240"/>
              </a:spcBef>
              <a:spcAft>
                <a:spcPts val="0"/>
              </a:spcAft>
              <a:buClr>
                <a:schemeClr val="dk1"/>
              </a:buClr>
              <a:buSzPts val="1200"/>
              <a:buFont typeface="Arial"/>
              <a:buNone/>
              <a:defRPr b="1" sz="1200"/>
            </a:lvl9pPr>
          </a:lstStyle>
          <a:p/>
        </p:txBody>
      </p:sp>
      <p:sp>
        <p:nvSpPr>
          <p:cNvPr id="45" name="Google Shape;45;p4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 name="Google Shape;46;p40"/>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0"/>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0"/>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1"/>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1"/>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1"/>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2"/>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2"/>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2"/>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Arial"/>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61950" lvl="1" marL="914400" algn="l">
              <a:lnSpc>
                <a:spcPct val="100000"/>
              </a:lnSpc>
              <a:spcBef>
                <a:spcPts val="420"/>
              </a:spcBef>
              <a:spcAft>
                <a:spcPts val="0"/>
              </a:spcAft>
              <a:buClr>
                <a:schemeClr val="dk1"/>
              </a:buClr>
              <a:buSzPts val="2100"/>
              <a:buFont typeface="Arial"/>
              <a:buChar char="–"/>
              <a:defRPr sz="2100"/>
            </a:lvl2pPr>
            <a:lvl3pPr indent="-342900" lvl="2" marL="1371600" algn="l">
              <a:lnSpc>
                <a:spcPct val="100000"/>
              </a:lnSpc>
              <a:spcBef>
                <a:spcPts val="360"/>
              </a:spcBef>
              <a:spcAft>
                <a:spcPts val="0"/>
              </a:spcAft>
              <a:buClr>
                <a:schemeClr val="dk1"/>
              </a:buClr>
              <a:buSzPts val="1800"/>
              <a:buFont typeface="Arial"/>
              <a:buChar char="•"/>
              <a:defRPr sz="1800"/>
            </a:lvl3pPr>
            <a:lvl4pPr indent="-323850" lvl="3" marL="1828800" algn="l">
              <a:lnSpc>
                <a:spcPct val="100000"/>
              </a:lnSpc>
              <a:spcBef>
                <a:spcPts val="300"/>
              </a:spcBef>
              <a:spcAft>
                <a:spcPts val="0"/>
              </a:spcAft>
              <a:buClr>
                <a:schemeClr val="dk1"/>
              </a:buClr>
              <a:buSzPts val="1500"/>
              <a:buFont typeface="Arial"/>
              <a:buChar char="–"/>
              <a:defRPr sz="1500"/>
            </a:lvl4pPr>
            <a:lvl5pPr indent="-323850" lvl="4" marL="2286000" algn="l">
              <a:lnSpc>
                <a:spcPct val="100000"/>
              </a:lnSpc>
              <a:spcBef>
                <a:spcPts val="300"/>
              </a:spcBef>
              <a:spcAft>
                <a:spcPts val="0"/>
              </a:spcAft>
              <a:buClr>
                <a:schemeClr val="dk1"/>
              </a:buClr>
              <a:buSzPts val="1500"/>
              <a:buFont typeface="Arial"/>
              <a:buChar char="»"/>
              <a:defRPr sz="1500"/>
            </a:lvl5pPr>
            <a:lvl6pPr indent="-323850" lvl="5" marL="2743200" algn="l">
              <a:lnSpc>
                <a:spcPct val="100000"/>
              </a:lnSpc>
              <a:spcBef>
                <a:spcPts val="300"/>
              </a:spcBef>
              <a:spcAft>
                <a:spcPts val="0"/>
              </a:spcAft>
              <a:buClr>
                <a:schemeClr val="dk1"/>
              </a:buClr>
              <a:buSzPts val="1500"/>
              <a:buFont typeface="Arial"/>
              <a:buChar char="»"/>
              <a:defRPr sz="1500"/>
            </a:lvl6pPr>
            <a:lvl7pPr indent="-323850" lvl="6" marL="3200400" algn="l">
              <a:lnSpc>
                <a:spcPct val="100000"/>
              </a:lnSpc>
              <a:spcBef>
                <a:spcPts val="300"/>
              </a:spcBef>
              <a:spcAft>
                <a:spcPts val="0"/>
              </a:spcAft>
              <a:buClr>
                <a:schemeClr val="dk1"/>
              </a:buClr>
              <a:buSzPts val="1500"/>
              <a:buFont typeface="Arial"/>
              <a:buChar char="»"/>
              <a:defRPr sz="1500"/>
            </a:lvl7pPr>
            <a:lvl8pPr indent="-323850" lvl="7" marL="3657600" algn="l">
              <a:lnSpc>
                <a:spcPct val="100000"/>
              </a:lnSpc>
              <a:spcBef>
                <a:spcPts val="300"/>
              </a:spcBef>
              <a:spcAft>
                <a:spcPts val="0"/>
              </a:spcAft>
              <a:buClr>
                <a:schemeClr val="dk1"/>
              </a:buClr>
              <a:buSzPts val="1500"/>
              <a:buFont typeface="Arial"/>
              <a:buChar char="»"/>
              <a:defRPr sz="1500"/>
            </a:lvl8pPr>
            <a:lvl9pPr indent="-323850" lvl="8" marL="4114800" algn="l">
              <a:lnSpc>
                <a:spcPct val="100000"/>
              </a:lnSpc>
              <a:spcBef>
                <a:spcPts val="300"/>
              </a:spcBef>
              <a:spcAft>
                <a:spcPts val="0"/>
              </a:spcAft>
              <a:buClr>
                <a:schemeClr val="dk1"/>
              </a:buClr>
              <a:buSzPts val="1500"/>
              <a:buFont typeface="Arial"/>
              <a:buChar char="»"/>
              <a:defRPr sz="1500"/>
            </a:lvl9pPr>
          </a:lstStyle>
          <a:p/>
        </p:txBody>
      </p:sp>
      <p:sp>
        <p:nvSpPr>
          <p:cNvPr id="61" name="Google Shape;61;p4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Font typeface="Arial"/>
              <a:buNone/>
              <a:defRPr sz="1200"/>
            </a:lvl1pPr>
            <a:lvl2pPr indent="-228600" lvl="1" marL="914400" algn="l">
              <a:lnSpc>
                <a:spcPct val="100000"/>
              </a:lnSpc>
              <a:spcBef>
                <a:spcPts val="210"/>
              </a:spcBef>
              <a:spcAft>
                <a:spcPts val="0"/>
              </a:spcAft>
              <a:buClr>
                <a:schemeClr val="dk1"/>
              </a:buClr>
              <a:buSzPts val="1050"/>
              <a:buFont typeface="Arial"/>
              <a:buNone/>
              <a:defRPr sz="1050"/>
            </a:lvl2pPr>
            <a:lvl3pPr indent="-228600" lvl="2" marL="1371600" algn="l">
              <a:lnSpc>
                <a:spcPct val="100000"/>
              </a:lnSpc>
              <a:spcBef>
                <a:spcPts val="180"/>
              </a:spcBef>
              <a:spcAft>
                <a:spcPts val="0"/>
              </a:spcAft>
              <a:buClr>
                <a:schemeClr val="dk1"/>
              </a:buClr>
              <a:buSzPts val="900"/>
              <a:buFont typeface="Arial"/>
              <a:buNone/>
              <a:defRPr sz="900"/>
            </a:lvl3pPr>
            <a:lvl4pPr indent="-228600" lvl="3" marL="1828800" algn="l">
              <a:lnSpc>
                <a:spcPct val="100000"/>
              </a:lnSpc>
              <a:spcBef>
                <a:spcPts val="150"/>
              </a:spcBef>
              <a:spcAft>
                <a:spcPts val="0"/>
              </a:spcAft>
              <a:buClr>
                <a:schemeClr val="dk1"/>
              </a:buClr>
              <a:buSzPts val="750"/>
              <a:buFont typeface="Arial"/>
              <a:buNone/>
              <a:defRPr sz="750"/>
            </a:lvl4pPr>
            <a:lvl5pPr indent="-228600" lvl="4" marL="2286000" algn="l">
              <a:lnSpc>
                <a:spcPct val="100000"/>
              </a:lnSpc>
              <a:spcBef>
                <a:spcPts val="150"/>
              </a:spcBef>
              <a:spcAft>
                <a:spcPts val="0"/>
              </a:spcAft>
              <a:buClr>
                <a:schemeClr val="dk1"/>
              </a:buClr>
              <a:buSzPts val="750"/>
              <a:buFont typeface="Arial"/>
              <a:buNone/>
              <a:defRPr sz="750"/>
            </a:lvl5pPr>
            <a:lvl6pPr indent="-228600" lvl="5" marL="2743200" algn="l">
              <a:lnSpc>
                <a:spcPct val="100000"/>
              </a:lnSpc>
              <a:spcBef>
                <a:spcPts val="150"/>
              </a:spcBef>
              <a:spcAft>
                <a:spcPts val="0"/>
              </a:spcAft>
              <a:buClr>
                <a:schemeClr val="dk1"/>
              </a:buClr>
              <a:buSzPts val="750"/>
              <a:buFont typeface="Arial"/>
              <a:buNone/>
              <a:defRPr sz="750"/>
            </a:lvl6pPr>
            <a:lvl7pPr indent="-228600" lvl="6" marL="3200400" algn="l">
              <a:lnSpc>
                <a:spcPct val="100000"/>
              </a:lnSpc>
              <a:spcBef>
                <a:spcPts val="150"/>
              </a:spcBef>
              <a:spcAft>
                <a:spcPts val="0"/>
              </a:spcAft>
              <a:buClr>
                <a:schemeClr val="dk1"/>
              </a:buClr>
              <a:buSzPts val="750"/>
              <a:buFont typeface="Arial"/>
              <a:buNone/>
              <a:defRPr sz="750"/>
            </a:lvl7pPr>
            <a:lvl8pPr indent="-228600" lvl="7" marL="3657600" algn="l">
              <a:lnSpc>
                <a:spcPct val="100000"/>
              </a:lnSpc>
              <a:spcBef>
                <a:spcPts val="150"/>
              </a:spcBef>
              <a:spcAft>
                <a:spcPts val="0"/>
              </a:spcAft>
              <a:buClr>
                <a:schemeClr val="dk1"/>
              </a:buClr>
              <a:buSzPts val="750"/>
              <a:buFont typeface="Arial"/>
              <a:buNone/>
              <a:defRPr sz="750"/>
            </a:lvl8pPr>
            <a:lvl9pPr indent="-228600" lvl="8" marL="4114800" algn="l">
              <a:lnSpc>
                <a:spcPct val="100000"/>
              </a:lnSpc>
              <a:spcBef>
                <a:spcPts val="150"/>
              </a:spcBef>
              <a:spcAft>
                <a:spcPts val="0"/>
              </a:spcAft>
              <a:buClr>
                <a:schemeClr val="dk1"/>
              </a:buClr>
              <a:buSzPts val="750"/>
              <a:buFont typeface="Arial"/>
              <a:buNone/>
              <a:defRPr sz="750"/>
            </a:lvl9pPr>
          </a:lstStyle>
          <a:p/>
        </p:txBody>
      </p:sp>
      <p:sp>
        <p:nvSpPr>
          <p:cNvPr id="62" name="Google Shape;62;p43"/>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3"/>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3"/>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Arial"/>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4"/>
          <p:cNvSpPr/>
          <p:nvPr>
            <p:ph idx="2" type="pic"/>
          </p:nvPr>
        </p:nvSpPr>
        <p:spPr>
          <a:xfrm>
            <a:off x="5183188" y="987425"/>
            <a:ext cx="6172200" cy="4873625"/>
          </a:xfrm>
          <a:prstGeom prst="rect">
            <a:avLst/>
          </a:prstGeom>
          <a:noFill/>
          <a:ln>
            <a:noFill/>
          </a:ln>
        </p:spPr>
      </p:sp>
      <p:sp>
        <p:nvSpPr>
          <p:cNvPr id="68" name="Google Shape;68;p4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Font typeface="Arial"/>
              <a:buNone/>
              <a:defRPr sz="1200"/>
            </a:lvl1pPr>
            <a:lvl2pPr indent="-228600" lvl="1" marL="914400" algn="l">
              <a:lnSpc>
                <a:spcPct val="100000"/>
              </a:lnSpc>
              <a:spcBef>
                <a:spcPts val="210"/>
              </a:spcBef>
              <a:spcAft>
                <a:spcPts val="0"/>
              </a:spcAft>
              <a:buClr>
                <a:schemeClr val="dk1"/>
              </a:buClr>
              <a:buSzPts val="1050"/>
              <a:buFont typeface="Arial"/>
              <a:buNone/>
              <a:defRPr sz="1050"/>
            </a:lvl2pPr>
            <a:lvl3pPr indent="-228600" lvl="2" marL="1371600" algn="l">
              <a:lnSpc>
                <a:spcPct val="100000"/>
              </a:lnSpc>
              <a:spcBef>
                <a:spcPts val="180"/>
              </a:spcBef>
              <a:spcAft>
                <a:spcPts val="0"/>
              </a:spcAft>
              <a:buClr>
                <a:schemeClr val="dk1"/>
              </a:buClr>
              <a:buSzPts val="900"/>
              <a:buFont typeface="Arial"/>
              <a:buNone/>
              <a:defRPr sz="900"/>
            </a:lvl3pPr>
            <a:lvl4pPr indent="-228600" lvl="3" marL="1828800" algn="l">
              <a:lnSpc>
                <a:spcPct val="100000"/>
              </a:lnSpc>
              <a:spcBef>
                <a:spcPts val="150"/>
              </a:spcBef>
              <a:spcAft>
                <a:spcPts val="0"/>
              </a:spcAft>
              <a:buClr>
                <a:schemeClr val="dk1"/>
              </a:buClr>
              <a:buSzPts val="750"/>
              <a:buFont typeface="Arial"/>
              <a:buNone/>
              <a:defRPr sz="750"/>
            </a:lvl4pPr>
            <a:lvl5pPr indent="-228600" lvl="4" marL="2286000" algn="l">
              <a:lnSpc>
                <a:spcPct val="100000"/>
              </a:lnSpc>
              <a:spcBef>
                <a:spcPts val="150"/>
              </a:spcBef>
              <a:spcAft>
                <a:spcPts val="0"/>
              </a:spcAft>
              <a:buClr>
                <a:schemeClr val="dk1"/>
              </a:buClr>
              <a:buSzPts val="750"/>
              <a:buFont typeface="Arial"/>
              <a:buNone/>
              <a:defRPr sz="750"/>
            </a:lvl5pPr>
            <a:lvl6pPr indent="-228600" lvl="5" marL="2743200" algn="l">
              <a:lnSpc>
                <a:spcPct val="100000"/>
              </a:lnSpc>
              <a:spcBef>
                <a:spcPts val="150"/>
              </a:spcBef>
              <a:spcAft>
                <a:spcPts val="0"/>
              </a:spcAft>
              <a:buClr>
                <a:schemeClr val="dk1"/>
              </a:buClr>
              <a:buSzPts val="750"/>
              <a:buFont typeface="Arial"/>
              <a:buNone/>
              <a:defRPr sz="750"/>
            </a:lvl6pPr>
            <a:lvl7pPr indent="-228600" lvl="6" marL="3200400" algn="l">
              <a:lnSpc>
                <a:spcPct val="100000"/>
              </a:lnSpc>
              <a:spcBef>
                <a:spcPts val="150"/>
              </a:spcBef>
              <a:spcAft>
                <a:spcPts val="0"/>
              </a:spcAft>
              <a:buClr>
                <a:schemeClr val="dk1"/>
              </a:buClr>
              <a:buSzPts val="750"/>
              <a:buFont typeface="Arial"/>
              <a:buNone/>
              <a:defRPr sz="750"/>
            </a:lvl7pPr>
            <a:lvl8pPr indent="-228600" lvl="7" marL="3657600" algn="l">
              <a:lnSpc>
                <a:spcPct val="100000"/>
              </a:lnSpc>
              <a:spcBef>
                <a:spcPts val="150"/>
              </a:spcBef>
              <a:spcAft>
                <a:spcPts val="0"/>
              </a:spcAft>
              <a:buClr>
                <a:schemeClr val="dk1"/>
              </a:buClr>
              <a:buSzPts val="750"/>
              <a:buFont typeface="Arial"/>
              <a:buNone/>
              <a:defRPr sz="750"/>
            </a:lvl8pPr>
            <a:lvl9pPr indent="-228600" lvl="8" marL="4114800" algn="l">
              <a:lnSpc>
                <a:spcPct val="100000"/>
              </a:lnSpc>
              <a:spcBef>
                <a:spcPts val="150"/>
              </a:spcBef>
              <a:spcAft>
                <a:spcPts val="0"/>
              </a:spcAft>
              <a:buClr>
                <a:schemeClr val="dk1"/>
              </a:buClr>
              <a:buSzPts val="750"/>
              <a:buFont typeface="Arial"/>
              <a:buNone/>
              <a:defRPr sz="750"/>
            </a:lvl9pPr>
          </a:lstStyle>
          <a:p/>
        </p:txBody>
      </p:sp>
      <p:sp>
        <p:nvSpPr>
          <p:cNvPr id="69" name="Google Shape;69;p44"/>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4"/>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4"/>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5"/>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5"/>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5"/>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5"/>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6"/>
          <p:cNvSpPr txBox="1"/>
          <p:nvPr>
            <p:ph type="title"/>
          </p:nvPr>
        </p:nvSpPr>
        <p:spPr>
          <a:xfrm rot="5400000">
            <a:off x="7285038" y="1828801"/>
            <a:ext cx="5851525" cy="2743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6"/>
          <p:cNvSpPr txBox="1"/>
          <p:nvPr>
            <p:ph idx="1" type="body"/>
          </p:nvPr>
        </p:nvSpPr>
        <p:spPr>
          <a:xfrm rot="5400000">
            <a:off x="1719124" y="-834886"/>
            <a:ext cx="5851525" cy="807057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6"/>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6"/>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6"/>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2"/>
              </a:buClr>
              <a:buSzPts val="4400"/>
              <a:buFont typeface="Arial"/>
              <a:buNone/>
              <a:defRPr b="0" i="0" sz="44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5"/>
          <p:cNvSpPr txBox="1"/>
          <p:nvPr>
            <p:ph idx="1" type="body"/>
          </p:nvPr>
        </p:nvSpPr>
        <p:spPr>
          <a:xfrm>
            <a:off x="609600" y="1600200"/>
            <a:ext cx="109728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5"/>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5"/>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5"/>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p:nvPr/>
        </p:nvSpPr>
        <p:spPr>
          <a:xfrm>
            <a:off x="-124" y="0"/>
            <a:ext cx="1218894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89" name="Google Shape;89;p1"/>
          <p:cNvGrpSpPr/>
          <p:nvPr/>
        </p:nvGrpSpPr>
        <p:grpSpPr>
          <a:xfrm>
            <a:off x="8228965" y="721995"/>
            <a:ext cx="3272155" cy="5680710"/>
            <a:chOff x="651279" y="598259"/>
            <a:chExt cx="10889442" cy="5680742"/>
          </a:xfrm>
        </p:grpSpPr>
        <p:sp>
          <p:nvSpPr>
            <p:cNvPr id="90" name="Google Shape;90;p1"/>
            <p:cNvSpPr/>
            <p:nvPr/>
          </p:nvSpPr>
          <p:spPr>
            <a:xfrm>
              <a:off x="651279" y="598259"/>
              <a:ext cx="10889442" cy="568074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p1"/>
            <p:cNvSpPr/>
            <p:nvPr/>
          </p:nvSpPr>
          <p:spPr>
            <a:xfrm>
              <a:off x="651279" y="598259"/>
              <a:ext cx="10889442" cy="5680742"/>
            </a:xfrm>
            <a:prstGeom prst="rect">
              <a:avLst/>
            </a:prstGeom>
            <a:solidFill>
              <a:schemeClr val="accent6">
                <a:alpha val="2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Icon&#10;&#10;Description automatically generated" id="92" name="Google Shape;92;p1"/>
          <p:cNvPicPr preferRelativeResize="0"/>
          <p:nvPr/>
        </p:nvPicPr>
        <p:blipFill rotWithShape="1">
          <a:blip r:embed="rId3">
            <a:alphaModFix/>
          </a:blip>
          <a:srcRect b="-3" l="504" r="-3" t="0"/>
          <a:stretch/>
        </p:blipFill>
        <p:spPr>
          <a:xfrm>
            <a:off x="9081498" y="2278220"/>
            <a:ext cx="1742742" cy="2162907"/>
          </a:xfrm>
          <a:prstGeom prst="rect">
            <a:avLst/>
          </a:prstGeom>
          <a:noFill/>
          <a:ln>
            <a:noFill/>
          </a:ln>
        </p:spPr>
      </p:pic>
      <p:grpSp>
        <p:nvGrpSpPr>
          <p:cNvPr id="93" name="Google Shape;93;p1"/>
          <p:cNvGrpSpPr/>
          <p:nvPr/>
        </p:nvGrpSpPr>
        <p:grpSpPr>
          <a:xfrm>
            <a:off x="0" y="0"/>
            <a:ext cx="12188952" cy="6858000"/>
            <a:chOff x="0" y="0"/>
            <a:chExt cx="12188952" cy="6858000"/>
          </a:xfrm>
        </p:grpSpPr>
        <p:sp>
          <p:nvSpPr>
            <p:cNvPr id="94" name="Google Shape;94;p1"/>
            <p:cNvSpPr/>
            <p:nvPr/>
          </p:nvSpPr>
          <p:spPr>
            <a:xfrm>
              <a:off x="26122" y="6015669"/>
              <a:ext cx="2605762" cy="842331"/>
            </a:xfrm>
            <a:custGeom>
              <a:rect b="b" l="l" r="r" t="t"/>
              <a:pathLst>
                <a:path extrusionOk="0" h="1033951" w="3180577">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 name="Google Shape;95;p1"/>
            <p:cNvSpPr/>
            <p:nvPr/>
          </p:nvSpPr>
          <p:spPr>
            <a:xfrm>
              <a:off x="655184" y="5798001"/>
              <a:ext cx="2485581" cy="1059999"/>
            </a:xfrm>
            <a:custGeom>
              <a:rect b="b" l="l" r="r" t="t"/>
              <a:pathLst>
                <a:path extrusionOk="0" h="1050628" w="244976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 name="Google Shape;96;p1"/>
            <p:cNvSpPr/>
            <p:nvPr/>
          </p:nvSpPr>
          <p:spPr>
            <a:xfrm>
              <a:off x="3474720" y="0"/>
              <a:ext cx="6177282" cy="1778750"/>
            </a:xfrm>
            <a:custGeom>
              <a:rect b="b" l="l" r="r" t="t"/>
              <a:pathLst>
                <a:path extrusionOk="0" h="1849426" w="6386648">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7" name="Google Shape;97;p1"/>
            <p:cNvSpPr/>
            <p:nvPr/>
          </p:nvSpPr>
          <p:spPr>
            <a:xfrm>
              <a:off x="0" y="2390523"/>
              <a:ext cx="611491" cy="1421482"/>
            </a:xfrm>
            <a:custGeom>
              <a:rect b="b" l="l" r="r" t="t"/>
              <a:pathLst>
                <a:path extrusionOk="0" h="1429512" w="611491">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 name="Google Shape;98;p1"/>
            <p:cNvSpPr/>
            <p:nvPr/>
          </p:nvSpPr>
          <p:spPr>
            <a:xfrm>
              <a:off x="3792772" y="0"/>
              <a:ext cx="2423863" cy="1343767"/>
            </a:xfrm>
            <a:custGeom>
              <a:rect b="b" l="l" r="r" t="t"/>
              <a:pathLst>
                <a:path extrusionOk="0" h="1681468" w="3015964">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 name="Google Shape;99;p1"/>
            <p:cNvSpPr/>
            <p:nvPr/>
          </p:nvSpPr>
          <p:spPr>
            <a:xfrm>
              <a:off x="10946850" y="0"/>
              <a:ext cx="1242102" cy="2620884"/>
            </a:xfrm>
            <a:custGeom>
              <a:rect b="b" l="l" r="r" t="t"/>
              <a:pathLst>
                <a:path extrusionOk="0" h="2635689" w="1242102">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 name="Google Shape;100;p1"/>
            <p:cNvSpPr/>
            <p:nvPr/>
          </p:nvSpPr>
          <p:spPr>
            <a:xfrm>
              <a:off x="0" y="0"/>
              <a:ext cx="1577788" cy="980141"/>
            </a:xfrm>
            <a:custGeom>
              <a:rect b="b" l="l" r="r" t="t"/>
              <a:pathLst>
                <a:path extrusionOk="0" h="795676" w="1471018">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01" name="Google Shape;101;p1"/>
          <p:cNvSpPr txBox="1"/>
          <p:nvPr>
            <p:ph type="ctrTitle"/>
          </p:nvPr>
        </p:nvSpPr>
        <p:spPr>
          <a:xfrm>
            <a:off x="464185" y="405130"/>
            <a:ext cx="7764780" cy="153479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12D86"/>
              </a:buClr>
              <a:buSzPts val="4800"/>
              <a:buFont typeface="Bell MT"/>
              <a:buNone/>
            </a:pPr>
            <a:r>
              <a:rPr b="1" lang="en-US" sz="4800">
                <a:solidFill>
                  <a:srgbClr val="012D86"/>
                </a:solidFill>
                <a:latin typeface="Bell MT"/>
                <a:ea typeface="Bell MT"/>
                <a:cs typeface="Bell MT"/>
                <a:sym typeface="Bell MT"/>
              </a:rPr>
              <a:t>Asp.Net Core – Razor Pages</a:t>
            </a:r>
            <a:endParaRPr b="1" sz="4800">
              <a:solidFill>
                <a:srgbClr val="012D86"/>
              </a:solidFill>
              <a:latin typeface="Bell MT"/>
              <a:ea typeface="Bell MT"/>
              <a:cs typeface="Bell MT"/>
              <a:sym typeface="Bell MT"/>
            </a:endParaRPr>
          </a:p>
        </p:txBody>
      </p:sp>
      <p:sp>
        <p:nvSpPr>
          <p:cNvPr id="102" name="Google Shape;102;p1"/>
          <p:cNvSpPr txBox="1"/>
          <p:nvPr>
            <p:ph idx="1" type="subTitle"/>
          </p:nvPr>
        </p:nvSpPr>
        <p:spPr>
          <a:xfrm>
            <a:off x="810079" y="1939665"/>
            <a:ext cx="8701694" cy="2374078"/>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012D86"/>
              </a:buClr>
              <a:buSzPts val="1800"/>
              <a:buFont typeface="Arial"/>
              <a:buNone/>
            </a:pPr>
            <a:r>
              <a:rPr lang="en-US" cap="small">
                <a:solidFill>
                  <a:srgbClr val="012D86"/>
                </a:solidFill>
              </a:rPr>
              <a:t>ASP.Net Core Web Developer Program @ Aitrich Academy</a:t>
            </a:r>
            <a:endParaRPr cap="small">
              <a:solidFill>
                <a:srgbClr val="012D86"/>
              </a:solidFill>
            </a:endParaRPr>
          </a:p>
        </p:txBody>
      </p:sp>
      <p:pic>
        <p:nvPicPr>
          <p:cNvPr descr="Aitrich-Logo-Transparent-BG-2048x671" id="103" name="Google Shape;103;p1"/>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par>
                                <p:cTn fill="hold" nodeType="with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par>
                                <p:cTn fill="hold" nodeType="with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500"/>
                                        <p:tgtEl>
                                          <p:spTgt spid="92"/>
                                        </p:tgtEl>
                                      </p:cBhvr>
                                    </p:animEffect>
                                  </p:childTnLst>
                                </p:cTn>
                              </p:par>
                              <p:par>
                                <p:cTn fill="hold" nodeType="with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500"/>
                                        <p:tgtEl>
                                          <p:spTgt spid="93"/>
                                        </p:tgtEl>
                                      </p:cBhvr>
                                    </p:animEffect>
                                  </p:childTnLst>
                                </p:cTn>
                              </p:par>
                              <p:par>
                                <p:cTn fill="hold" nodeType="with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par>
                                <p:cTn fill="hold" nodeType="withEffect" presetClass="entr" presetID="10"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animEffect filter="fade" transition="in">
                                      <p:cBhvr>
                                        <p:cTn dur="500"/>
                                        <p:tgtEl>
                                          <p:spTgt spid="10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HTML Helpers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109" name="Google Shape;109;p16"/>
          <p:cNvSpPr/>
          <p:nvPr/>
        </p:nvSpPr>
        <p:spPr>
          <a:xfrm>
            <a:off x="780415" y="1724660"/>
            <a:ext cx="5481320" cy="315468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In Razor Pages, HTML Helpers are a set of utility methods that simplify the process of generating HTML markup. They provide a convenient and strongly-typed way to generate HTML elements, form controls, links, and more. HTML Helpers help improve code readability, maintainability, and reduce the likelihood of errors.</a:t>
            </a:r>
            <a:endParaRPr b="0" i="0" sz="1600" u="none" cap="none" strike="noStrike">
              <a:solidFill>
                <a:schemeClr val="lt1"/>
              </a:solidFill>
              <a:latin typeface="Comic Sans MS"/>
              <a:ea typeface="Comic Sans MS"/>
              <a:cs typeface="Comic Sans MS"/>
              <a:sym typeface="Comic Sans MS"/>
            </a:endParaRPr>
          </a:p>
        </p:txBody>
      </p:sp>
      <p:grpSp>
        <p:nvGrpSpPr>
          <p:cNvPr id="110" name="Google Shape;110;p16"/>
          <p:cNvGrpSpPr/>
          <p:nvPr/>
        </p:nvGrpSpPr>
        <p:grpSpPr>
          <a:xfrm flipH="1" rot="10800000">
            <a:off x="6572250" y="0"/>
            <a:ext cx="5928360" cy="6634480"/>
            <a:chOff x="6095999" y="52996"/>
            <a:chExt cx="6093363" cy="6805005"/>
          </a:xfrm>
        </p:grpSpPr>
        <p:sp>
          <p:nvSpPr>
            <p:cNvPr id="111" name="Google Shape;111;p16"/>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 name="Google Shape;112;p16"/>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 name="Google Shape;113;p16"/>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114" name="Google Shape;114;p16"/>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115" name="Google Shape;115;p16"/>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17"/>
          <p:cNvSpPr/>
          <p:nvPr/>
        </p:nvSpPr>
        <p:spPr>
          <a:xfrm>
            <a:off x="1621155" y="4324985"/>
            <a:ext cx="6373495" cy="112776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@Html.TextBoxFor(m =&gt; m.Name)</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@Html.PasswordFor(m =&gt; m.Password)</a:t>
            </a:r>
            <a:endParaRPr b="0" i="0" sz="1200" u="none" cap="none" strike="noStrike">
              <a:solidFill>
                <a:srgbClr val="002060"/>
              </a:solidFill>
              <a:latin typeface="Arial"/>
              <a:ea typeface="Arial"/>
              <a:cs typeface="Arial"/>
              <a:sym typeface="Arial"/>
            </a:endParaRPr>
          </a:p>
        </p:txBody>
      </p:sp>
      <p:sp>
        <p:nvSpPr>
          <p:cNvPr id="121" name="Google Shape;121;p17"/>
          <p:cNvSpPr txBox="1"/>
          <p:nvPr>
            <p:ph type="title"/>
          </p:nvPr>
        </p:nvSpPr>
        <p:spPr>
          <a:xfrm>
            <a:off x="609600" y="274955"/>
            <a:ext cx="10972800" cy="98869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3000"/>
              <a:buFont typeface="Bell MT"/>
              <a:buNone/>
            </a:pPr>
            <a:r>
              <a:rPr b="1" lang="en-US" sz="3000">
                <a:solidFill>
                  <a:srgbClr val="012D86"/>
                </a:solidFill>
                <a:latin typeface="Bell MT"/>
                <a:ea typeface="Bell MT"/>
                <a:cs typeface="Bell MT"/>
                <a:sym typeface="Bell MT"/>
              </a:rPr>
              <a:t>Here are some commonly used HTML Helpers in Razor Pages:</a:t>
            </a:r>
            <a:endParaRPr b="1" sz="3000">
              <a:solidFill>
                <a:srgbClr val="012D86"/>
              </a:solidFill>
              <a:latin typeface="Bell MT"/>
              <a:ea typeface="Bell MT"/>
              <a:cs typeface="Bell MT"/>
              <a:sym typeface="Bell MT"/>
            </a:endParaRPr>
          </a:p>
        </p:txBody>
      </p:sp>
      <p:sp>
        <p:nvSpPr>
          <p:cNvPr id="122" name="Google Shape;122;p17"/>
          <p:cNvSpPr/>
          <p:nvPr/>
        </p:nvSpPr>
        <p:spPr>
          <a:xfrm>
            <a:off x="609600" y="2168525"/>
            <a:ext cx="6373495" cy="19050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Html.TextBoxFor and Html.PasswordFor: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These helpers generate &lt;input&gt; elements for text input and password input, respectively. They automatically bind to the model property specified</a:t>
            </a:r>
            <a:endParaRPr b="0" i="0" sz="1600" u="none" cap="none" strike="noStrike">
              <a:solidFill>
                <a:schemeClr val="lt1"/>
              </a:solidFill>
              <a:latin typeface="Comic Sans MS"/>
              <a:ea typeface="Comic Sans MS"/>
              <a:cs typeface="Comic Sans MS"/>
              <a:sym typeface="Comic Sans MS"/>
            </a:endParaRPr>
          </a:p>
        </p:txBody>
      </p:sp>
      <p:grpSp>
        <p:nvGrpSpPr>
          <p:cNvPr id="123" name="Google Shape;123;p17"/>
          <p:cNvGrpSpPr/>
          <p:nvPr/>
        </p:nvGrpSpPr>
        <p:grpSpPr>
          <a:xfrm flipH="1" rot="10800000">
            <a:off x="6593205" y="0"/>
            <a:ext cx="5928360" cy="6634480"/>
            <a:chOff x="6095999" y="52996"/>
            <a:chExt cx="6093363" cy="6805005"/>
          </a:xfrm>
        </p:grpSpPr>
        <p:sp>
          <p:nvSpPr>
            <p:cNvPr id="124" name="Google Shape;124;p17"/>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 name="Google Shape;125;p17"/>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 name="Google Shape;126;p17"/>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127" name="Google Shape;127;p17"/>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128" name="Google Shape;128;p17"/>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129" name="Google Shape;129;p17"/>
          <p:cNvSpPr/>
          <p:nvPr/>
        </p:nvSpPr>
        <p:spPr>
          <a:xfrm>
            <a:off x="609600" y="1062990"/>
            <a:ext cx="10972800" cy="98869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12D86"/>
              </a:buClr>
              <a:buSzPts val="2800"/>
              <a:buFont typeface="Bell MT"/>
              <a:buNone/>
            </a:pPr>
            <a:r>
              <a:rPr b="1" i="0" lang="en-US" sz="2800" u="none" cap="none" strike="noStrike">
                <a:solidFill>
                  <a:srgbClr val="012D86"/>
                </a:solidFill>
                <a:latin typeface="Bell MT"/>
                <a:ea typeface="Bell MT"/>
                <a:cs typeface="Bell MT"/>
                <a:sym typeface="Bell MT"/>
              </a:rPr>
              <a:t>1 . Form Controls</a:t>
            </a:r>
            <a:endParaRPr b="1" i="0" sz="2800" u="none" cap="none" strike="noStrike">
              <a:solidFill>
                <a:srgbClr val="012D86"/>
              </a:solidFill>
              <a:latin typeface="Bell MT"/>
              <a:ea typeface="Bell MT"/>
              <a:cs typeface="Bell MT"/>
              <a:sym typeface="Bell MT"/>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sp>
        <p:nvSpPr>
          <p:cNvPr id="134" name="Google Shape;134;p18"/>
          <p:cNvSpPr/>
          <p:nvPr/>
        </p:nvSpPr>
        <p:spPr>
          <a:xfrm>
            <a:off x="810505" y="3689990"/>
            <a:ext cx="6456600" cy="75690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@Html.DropDownListFor(m =&gt; m.CategoryId, Model.Categories, "Select a category")</a:t>
            </a:r>
            <a:endParaRPr b="0" i="0" sz="1200" u="none" cap="none" strike="noStrike">
              <a:solidFill>
                <a:srgbClr val="002060"/>
              </a:solidFill>
              <a:latin typeface="Arial"/>
              <a:ea typeface="Arial"/>
              <a:cs typeface="Arial"/>
              <a:sym typeface="Arial"/>
            </a:endParaRPr>
          </a:p>
        </p:txBody>
      </p:sp>
      <p:sp>
        <p:nvSpPr>
          <p:cNvPr id="135" name="Google Shape;135;p18"/>
          <p:cNvSpPr/>
          <p:nvPr/>
        </p:nvSpPr>
        <p:spPr>
          <a:xfrm>
            <a:off x="810505" y="2680970"/>
            <a:ext cx="4412700" cy="75690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@Html.CheckBoxFor(m =&gt; m.IsSubscribed)</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@Html.RadioButtonFor(m =&gt; m.Gender, "Male")</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@Html.RadioButtonFor(m =&gt; m.Gender, "Female")</a:t>
            </a:r>
            <a:endParaRPr b="0" i="0" sz="1200" u="none" cap="none" strike="noStrike">
              <a:solidFill>
                <a:srgbClr val="002060"/>
              </a:solidFill>
              <a:latin typeface="Arial"/>
              <a:ea typeface="Arial"/>
              <a:cs typeface="Arial"/>
              <a:sym typeface="Arial"/>
            </a:endParaRPr>
          </a:p>
        </p:txBody>
      </p:sp>
      <p:sp>
        <p:nvSpPr>
          <p:cNvPr id="136" name="Google Shape;136;p18"/>
          <p:cNvSpPr/>
          <p:nvPr/>
        </p:nvSpPr>
        <p:spPr>
          <a:xfrm>
            <a:off x="640715" y="523875"/>
            <a:ext cx="6373495" cy="19050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Html.CheckBoxFor and Html.RadioButtonFor:</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 These helpers generate checkboxes and radio buttons that bind to a Boolean model property or an enumeration property, respectively.</a:t>
            </a:r>
            <a:endParaRPr b="0" i="0" sz="1600" u="none" cap="none" strike="noStrike">
              <a:solidFill>
                <a:schemeClr val="lt1"/>
              </a:solidFill>
              <a:latin typeface="Comic Sans MS"/>
              <a:ea typeface="Comic Sans MS"/>
              <a:cs typeface="Comic Sans MS"/>
              <a:sym typeface="Comic Sans MS"/>
            </a:endParaRPr>
          </a:p>
        </p:txBody>
      </p:sp>
      <p:grpSp>
        <p:nvGrpSpPr>
          <p:cNvPr id="137" name="Google Shape;137;p18"/>
          <p:cNvGrpSpPr/>
          <p:nvPr/>
        </p:nvGrpSpPr>
        <p:grpSpPr>
          <a:xfrm flipH="1" rot="10800000">
            <a:off x="6593205" y="0"/>
            <a:ext cx="5928360" cy="6634480"/>
            <a:chOff x="6095999" y="52996"/>
            <a:chExt cx="6093363" cy="6805005"/>
          </a:xfrm>
        </p:grpSpPr>
        <p:sp>
          <p:nvSpPr>
            <p:cNvPr id="138" name="Google Shape;138;p18"/>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9" name="Google Shape;139;p18"/>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0" name="Google Shape;140;p18"/>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141" name="Google Shape;141;p18"/>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142" name="Google Shape;142;p18"/>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sp>
        <p:nvSpPr>
          <p:cNvPr id="147" name="Google Shape;147;p19"/>
          <p:cNvSpPr/>
          <p:nvPr/>
        </p:nvSpPr>
        <p:spPr>
          <a:xfrm>
            <a:off x="609595" y="2900683"/>
            <a:ext cx="5238900" cy="60120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@Html.ActionLink("Home", "Index", "Home")</a:t>
            </a:r>
            <a:endParaRPr b="0" i="0" sz="1200" u="none" cap="none" strike="noStrike">
              <a:solidFill>
                <a:srgbClr val="002060"/>
              </a:solidFill>
              <a:latin typeface="Arial"/>
              <a:ea typeface="Arial"/>
              <a:cs typeface="Arial"/>
              <a:sym typeface="Arial"/>
            </a:endParaRPr>
          </a:p>
        </p:txBody>
      </p:sp>
      <p:sp>
        <p:nvSpPr>
          <p:cNvPr id="148" name="Google Shape;148;p19"/>
          <p:cNvSpPr/>
          <p:nvPr/>
        </p:nvSpPr>
        <p:spPr>
          <a:xfrm>
            <a:off x="609600" y="1322070"/>
            <a:ext cx="6373495" cy="135699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Html.ActionLink: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This helper generates an &lt;a&gt; tag for a link to an action method within the same controller or a different controller.</a:t>
            </a:r>
            <a:endParaRPr b="0" i="0" sz="1600" u="none" cap="none" strike="noStrike">
              <a:solidFill>
                <a:schemeClr val="lt1"/>
              </a:solidFill>
              <a:latin typeface="Comic Sans MS"/>
              <a:ea typeface="Comic Sans MS"/>
              <a:cs typeface="Comic Sans MS"/>
              <a:sym typeface="Comic Sans MS"/>
            </a:endParaRPr>
          </a:p>
        </p:txBody>
      </p:sp>
      <p:grpSp>
        <p:nvGrpSpPr>
          <p:cNvPr id="149" name="Google Shape;149;p19"/>
          <p:cNvGrpSpPr/>
          <p:nvPr/>
        </p:nvGrpSpPr>
        <p:grpSpPr>
          <a:xfrm flipH="1" rot="10800000">
            <a:off x="6593205" y="0"/>
            <a:ext cx="5928360" cy="6634480"/>
            <a:chOff x="6095999" y="52996"/>
            <a:chExt cx="6093363" cy="6805005"/>
          </a:xfrm>
        </p:grpSpPr>
        <p:sp>
          <p:nvSpPr>
            <p:cNvPr id="150" name="Google Shape;150;p19"/>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1" name="Google Shape;151;p19"/>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2" name="Google Shape;152;p19"/>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153" name="Google Shape;153;p19"/>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154" name="Google Shape;154;p19"/>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155" name="Google Shape;155;p19"/>
          <p:cNvSpPr/>
          <p:nvPr/>
        </p:nvSpPr>
        <p:spPr>
          <a:xfrm>
            <a:off x="609600" y="177165"/>
            <a:ext cx="10972800" cy="98869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12D86"/>
              </a:buClr>
              <a:buSzPts val="2800"/>
              <a:buFont typeface="Bell MT"/>
              <a:buNone/>
            </a:pPr>
            <a:r>
              <a:rPr b="1" i="0" lang="en-US" sz="2800" u="none" cap="none" strike="noStrike">
                <a:solidFill>
                  <a:srgbClr val="012D86"/>
                </a:solidFill>
                <a:latin typeface="Bell MT"/>
                <a:ea typeface="Bell MT"/>
                <a:cs typeface="Bell MT"/>
                <a:sym typeface="Bell MT"/>
              </a:rPr>
              <a:t>2 . Links and URLs:</a:t>
            </a:r>
            <a:endParaRPr b="1" i="0" sz="2800" u="none" cap="none" strike="noStrike">
              <a:solidFill>
                <a:srgbClr val="012D86"/>
              </a:solidFill>
              <a:latin typeface="Bell MT"/>
              <a:ea typeface="Bell MT"/>
              <a:cs typeface="Bell MT"/>
              <a:sym typeface="Bell MT"/>
            </a:endParaRPr>
          </a:p>
        </p:txBody>
      </p:sp>
      <p:sp>
        <p:nvSpPr>
          <p:cNvPr id="156" name="Google Shape;156;p19"/>
          <p:cNvSpPr/>
          <p:nvPr/>
        </p:nvSpPr>
        <p:spPr>
          <a:xfrm>
            <a:off x="609602" y="5266825"/>
            <a:ext cx="7078500" cy="60120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@Html.RouteLink("About Us", "AboutRoute")</a:t>
            </a:r>
            <a:endParaRPr b="0" i="0" sz="1200" u="none" cap="none" strike="noStrike">
              <a:solidFill>
                <a:srgbClr val="002060"/>
              </a:solidFill>
              <a:latin typeface="Arial"/>
              <a:ea typeface="Arial"/>
              <a:cs typeface="Arial"/>
              <a:sym typeface="Arial"/>
            </a:endParaRPr>
          </a:p>
        </p:txBody>
      </p:sp>
      <p:sp>
        <p:nvSpPr>
          <p:cNvPr id="157" name="Google Shape;157;p19"/>
          <p:cNvSpPr/>
          <p:nvPr/>
        </p:nvSpPr>
        <p:spPr>
          <a:xfrm>
            <a:off x="609600" y="3723640"/>
            <a:ext cx="6373495" cy="128587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Html.RouteLink: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This helper generates a link based on a named route and its parameters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
        <p:nvSpPr>
          <p:cNvPr id="162" name="Google Shape;162;p20"/>
          <p:cNvSpPr/>
          <p:nvPr/>
        </p:nvSpPr>
        <p:spPr>
          <a:xfrm>
            <a:off x="609595" y="3128335"/>
            <a:ext cx="5238900" cy="60120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@Html.Partial("_PartialViewName")</a:t>
            </a:r>
            <a:endParaRPr b="0" i="0" sz="1200" u="none" cap="none" strike="noStrike">
              <a:solidFill>
                <a:srgbClr val="002060"/>
              </a:solidFill>
              <a:latin typeface="Arial"/>
              <a:ea typeface="Arial"/>
              <a:cs typeface="Arial"/>
              <a:sym typeface="Arial"/>
            </a:endParaRPr>
          </a:p>
        </p:txBody>
      </p:sp>
      <p:sp>
        <p:nvSpPr>
          <p:cNvPr id="163" name="Google Shape;163;p20"/>
          <p:cNvSpPr/>
          <p:nvPr/>
        </p:nvSpPr>
        <p:spPr>
          <a:xfrm>
            <a:off x="493600" y="1293070"/>
            <a:ext cx="6373500" cy="14604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Html.Partial: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This helper renders a partial view within the current view. It can be used to reuse sections of markup.</a:t>
            </a:r>
            <a:endParaRPr b="0" i="0" sz="1600" u="none" cap="none" strike="noStrike">
              <a:solidFill>
                <a:schemeClr val="lt1"/>
              </a:solidFill>
              <a:latin typeface="Comic Sans MS"/>
              <a:ea typeface="Comic Sans MS"/>
              <a:cs typeface="Comic Sans MS"/>
              <a:sym typeface="Comic Sans MS"/>
            </a:endParaRPr>
          </a:p>
        </p:txBody>
      </p:sp>
      <p:grpSp>
        <p:nvGrpSpPr>
          <p:cNvPr id="164" name="Google Shape;164;p20"/>
          <p:cNvGrpSpPr/>
          <p:nvPr/>
        </p:nvGrpSpPr>
        <p:grpSpPr>
          <a:xfrm flipH="1" rot="10800000">
            <a:off x="6593205" y="0"/>
            <a:ext cx="5928360" cy="6634480"/>
            <a:chOff x="6095999" y="52996"/>
            <a:chExt cx="6093363" cy="6805005"/>
          </a:xfrm>
        </p:grpSpPr>
        <p:sp>
          <p:nvSpPr>
            <p:cNvPr id="165" name="Google Shape;165;p20"/>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6" name="Google Shape;166;p20"/>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7" name="Google Shape;167;p20"/>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168" name="Google Shape;168;p20"/>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169" name="Google Shape;169;p20"/>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170" name="Google Shape;170;p20"/>
          <p:cNvSpPr/>
          <p:nvPr/>
        </p:nvSpPr>
        <p:spPr>
          <a:xfrm>
            <a:off x="609600" y="177165"/>
            <a:ext cx="10972800" cy="98869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12D86"/>
              </a:buClr>
              <a:buSzPts val="2800"/>
              <a:buFont typeface="Bell MT"/>
              <a:buNone/>
            </a:pPr>
            <a:r>
              <a:rPr b="1" i="0" lang="en-US" sz="2800" u="none" cap="none" strike="noStrike">
                <a:solidFill>
                  <a:srgbClr val="012D86"/>
                </a:solidFill>
                <a:latin typeface="Bell MT"/>
                <a:ea typeface="Bell MT"/>
                <a:cs typeface="Bell MT"/>
                <a:sym typeface="Bell MT"/>
              </a:rPr>
              <a:t>3 . Partial Views</a:t>
            </a:r>
            <a:endParaRPr b="1" i="0" sz="2800" u="none" cap="none" strike="noStrike">
              <a:solidFill>
                <a:srgbClr val="012D86"/>
              </a:solidFill>
              <a:latin typeface="Bell MT"/>
              <a:ea typeface="Bell MT"/>
              <a:cs typeface="Bell MT"/>
              <a:sym typeface="Bell MT"/>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21"/>
          <p:cNvSpPr/>
          <p:nvPr/>
        </p:nvSpPr>
        <p:spPr>
          <a:xfrm>
            <a:off x="2449195" y="2865120"/>
            <a:ext cx="5238750" cy="601345"/>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@Html.DisplayFor(m =&gt; m.Name)</a:t>
            </a:r>
            <a:endParaRPr b="0" i="0" sz="1200" u="none" cap="none" strike="noStrike">
              <a:solidFill>
                <a:srgbClr val="002060"/>
              </a:solidFill>
              <a:latin typeface="Arial"/>
              <a:ea typeface="Arial"/>
              <a:cs typeface="Arial"/>
              <a:sym typeface="Arial"/>
            </a:endParaRPr>
          </a:p>
        </p:txBody>
      </p:sp>
      <p:sp>
        <p:nvSpPr>
          <p:cNvPr id="176" name="Google Shape;176;p21"/>
          <p:cNvSpPr/>
          <p:nvPr/>
        </p:nvSpPr>
        <p:spPr>
          <a:xfrm>
            <a:off x="609600" y="1322070"/>
            <a:ext cx="6373495" cy="147002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Html.DisplayFor: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This helper generates HTML markup to display the value of a model property, applying any specified display templates or formatting.</a:t>
            </a:r>
            <a:endParaRPr b="0" i="0" sz="1600" u="none" cap="none" strike="noStrike">
              <a:solidFill>
                <a:schemeClr val="lt1"/>
              </a:solidFill>
              <a:latin typeface="Comic Sans MS"/>
              <a:ea typeface="Comic Sans MS"/>
              <a:cs typeface="Comic Sans MS"/>
              <a:sym typeface="Comic Sans MS"/>
            </a:endParaRPr>
          </a:p>
        </p:txBody>
      </p:sp>
      <p:grpSp>
        <p:nvGrpSpPr>
          <p:cNvPr id="177" name="Google Shape;177;p21"/>
          <p:cNvGrpSpPr/>
          <p:nvPr/>
        </p:nvGrpSpPr>
        <p:grpSpPr>
          <a:xfrm flipH="1" rot="10800000">
            <a:off x="6582410" y="0"/>
            <a:ext cx="5928360" cy="6634480"/>
            <a:chOff x="6095999" y="52996"/>
            <a:chExt cx="6093363" cy="6805005"/>
          </a:xfrm>
        </p:grpSpPr>
        <p:sp>
          <p:nvSpPr>
            <p:cNvPr id="178" name="Google Shape;178;p21"/>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9" name="Google Shape;179;p21"/>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0" name="Google Shape;180;p21"/>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181" name="Google Shape;181;p21"/>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182" name="Google Shape;182;p21"/>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183" name="Google Shape;183;p21"/>
          <p:cNvSpPr/>
          <p:nvPr/>
        </p:nvSpPr>
        <p:spPr>
          <a:xfrm>
            <a:off x="609600" y="177165"/>
            <a:ext cx="10972800" cy="98869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12D86"/>
              </a:buClr>
              <a:buSzPts val="2800"/>
              <a:buFont typeface="Bell MT"/>
              <a:buNone/>
            </a:pPr>
            <a:r>
              <a:rPr b="1" i="0" lang="en-US" sz="2800" u="none" cap="none" strike="noStrike">
                <a:solidFill>
                  <a:srgbClr val="012D86"/>
                </a:solidFill>
                <a:latin typeface="Bell MT"/>
                <a:ea typeface="Bell MT"/>
                <a:cs typeface="Bell MT"/>
                <a:sym typeface="Bell MT"/>
              </a:rPr>
              <a:t>4 . Displaying Data</a:t>
            </a:r>
            <a:endParaRPr b="1" i="0" sz="2800" u="none" cap="none" strike="noStrike">
              <a:solidFill>
                <a:srgbClr val="012D86"/>
              </a:solidFill>
              <a:latin typeface="Bell MT"/>
              <a:ea typeface="Bell MT"/>
              <a:cs typeface="Bell MT"/>
              <a:sym typeface="Bell MT"/>
            </a:endParaRPr>
          </a:p>
        </p:txBody>
      </p:sp>
      <p:sp>
        <p:nvSpPr>
          <p:cNvPr id="184" name="Google Shape;184;p21"/>
          <p:cNvSpPr/>
          <p:nvPr/>
        </p:nvSpPr>
        <p:spPr>
          <a:xfrm>
            <a:off x="2449195" y="5266690"/>
            <a:ext cx="5238750" cy="601345"/>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@Html.EditorFor(m =&gt; m.DateOfBirth)</a:t>
            </a:r>
            <a:endParaRPr b="0" i="0" sz="1200" u="none" cap="none" strike="noStrike">
              <a:solidFill>
                <a:srgbClr val="002060"/>
              </a:solidFill>
              <a:latin typeface="Arial"/>
              <a:ea typeface="Arial"/>
              <a:cs typeface="Arial"/>
              <a:sym typeface="Arial"/>
            </a:endParaRPr>
          </a:p>
        </p:txBody>
      </p:sp>
      <p:sp>
        <p:nvSpPr>
          <p:cNvPr id="185" name="Google Shape;185;p21"/>
          <p:cNvSpPr/>
          <p:nvPr/>
        </p:nvSpPr>
        <p:spPr>
          <a:xfrm>
            <a:off x="609600" y="3715703"/>
            <a:ext cx="6373500" cy="13017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Html.EditorFor: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This helper generates an appropriate editor control for a model property, using any specified editor templates.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 name="Shape 189"/>
        <p:cNvGrpSpPr/>
        <p:nvPr/>
      </p:nvGrpSpPr>
      <p:grpSpPr>
        <a:xfrm>
          <a:off x="0" y="0"/>
          <a:ext cx="0" cy="0"/>
          <a:chOff x="0" y="0"/>
          <a:chExt cx="0" cy="0"/>
        </a:xfrm>
      </p:grpSpPr>
      <p:sp>
        <p:nvSpPr>
          <p:cNvPr id="190" name="Google Shape;190;p22"/>
          <p:cNvSpPr txBox="1"/>
          <p:nvPr>
            <p:ph type="title"/>
          </p:nvPr>
        </p:nvSpPr>
        <p:spPr>
          <a:xfrm>
            <a:off x="609600" y="245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Page Events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191" name="Google Shape;191;p22"/>
          <p:cNvSpPr/>
          <p:nvPr/>
        </p:nvSpPr>
        <p:spPr>
          <a:xfrm>
            <a:off x="609600" y="1165860"/>
            <a:ext cx="6373495" cy="22974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In Razor Pages, events are a way to handle user interactions or specific actions that occur during the lifecycle of a page. Events allow you to respond to user input or perform certain operations in response to various triggers. Here are some commonly used events in Razor Pages:</a:t>
            </a:r>
            <a:endParaRPr b="0" i="0" sz="1600" u="none" cap="none" strike="noStrike">
              <a:solidFill>
                <a:schemeClr val="lt1"/>
              </a:solidFill>
              <a:latin typeface="Comic Sans MS"/>
              <a:ea typeface="Comic Sans MS"/>
              <a:cs typeface="Comic Sans MS"/>
              <a:sym typeface="Comic Sans MS"/>
            </a:endParaRPr>
          </a:p>
        </p:txBody>
      </p:sp>
      <p:grpSp>
        <p:nvGrpSpPr>
          <p:cNvPr id="192" name="Google Shape;192;p22"/>
          <p:cNvGrpSpPr/>
          <p:nvPr/>
        </p:nvGrpSpPr>
        <p:grpSpPr>
          <a:xfrm flipH="1" rot="10800000">
            <a:off x="6593205" y="0"/>
            <a:ext cx="5928360" cy="6634480"/>
            <a:chOff x="6095999" y="52996"/>
            <a:chExt cx="6093363" cy="6805005"/>
          </a:xfrm>
        </p:grpSpPr>
        <p:sp>
          <p:nvSpPr>
            <p:cNvPr id="193" name="Google Shape;193;p22"/>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4" name="Google Shape;194;p22"/>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5" name="Google Shape;195;p22"/>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196" name="Google Shape;196;p22"/>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197" name="Google Shape;197;p22"/>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198" name="Google Shape;198;p22"/>
          <p:cNvSpPr/>
          <p:nvPr/>
        </p:nvSpPr>
        <p:spPr>
          <a:xfrm>
            <a:off x="685800" y="3589020"/>
            <a:ext cx="6373500" cy="14205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342900" lvl="0" marL="342900" marR="0" rtl="0" algn="l">
              <a:lnSpc>
                <a:spcPct val="140000"/>
              </a:lnSpc>
              <a:spcBef>
                <a:spcPts val="0"/>
              </a:spcBef>
              <a:spcAft>
                <a:spcPts val="0"/>
              </a:spcAft>
              <a:buClr>
                <a:schemeClr val="lt1"/>
              </a:buClr>
              <a:buSzPts val="1600"/>
              <a:buFont typeface="Arial"/>
              <a:buAutoNum type="arabicPeriod"/>
            </a:pPr>
            <a:r>
              <a:rPr b="0" i="0" lang="en-US" sz="1600" u="none" cap="none" strike="noStrike">
                <a:solidFill>
                  <a:schemeClr val="lt1"/>
                </a:solidFill>
                <a:latin typeface="Comic Sans MS"/>
                <a:ea typeface="Comic Sans MS"/>
                <a:cs typeface="Comic Sans MS"/>
                <a:sym typeface="Comic Sans MS"/>
              </a:rPr>
              <a:t>Page Events</a:t>
            </a:r>
            <a:endParaRPr b="0" i="0" sz="1600" u="none" cap="none" strike="noStrike">
              <a:solidFill>
                <a:schemeClr val="lt1"/>
              </a:solidFill>
              <a:latin typeface="Comic Sans MS"/>
              <a:ea typeface="Comic Sans MS"/>
              <a:cs typeface="Comic Sans MS"/>
              <a:sym typeface="Comic Sans MS"/>
            </a:endParaRPr>
          </a:p>
          <a:p>
            <a:pPr indent="-342900" lvl="0" marL="342900" marR="0" rtl="0" algn="l">
              <a:lnSpc>
                <a:spcPct val="140000"/>
              </a:lnSpc>
              <a:spcBef>
                <a:spcPts val="0"/>
              </a:spcBef>
              <a:spcAft>
                <a:spcPts val="0"/>
              </a:spcAft>
              <a:buClr>
                <a:schemeClr val="lt1"/>
              </a:buClr>
              <a:buSzPts val="1600"/>
              <a:buFont typeface="Arial"/>
              <a:buAutoNum type="arabicPeriod"/>
            </a:pPr>
            <a:r>
              <a:rPr b="0" i="0" lang="en-US" sz="1600" u="none" cap="none" strike="noStrike">
                <a:solidFill>
                  <a:schemeClr val="lt1"/>
                </a:solidFill>
                <a:latin typeface="Comic Sans MS"/>
                <a:ea typeface="Comic Sans MS"/>
                <a:cs typeface="Comic Sans MS"/>
                <a:sym typeface="Comic Sans MS"/>
              </a:rPr>
              <a:t>Handler Events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Page Events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204" name="Google Shape;204;p23"/>
          <p:cNvSpPr/>
          <p:nvPr/>
        </p:nvSpPr>
        <p:spPr>
          <a:xfrm>
            <a:off x="609600" y="1165860"/>
            <a:ext cx="6373495" cy="22974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OnGet and OnPost: These events are triggered when an HTTP GET or POST request is made to the page. You can override these methods in your Razor Page's code-behind file (PageModel) to handle the corresponding HTTP verb.</a:t>
            </a:r>
            <a:endParaRPr b="0" i="0" sz="1600" u="none" cap="none" strike="noStrike">
              <a:solidFill>
                <a:schemeClr val="lt1"/>
              </a:solidFill>
              <a:latin typeface="Comic Sans MS"/>
              <a:ea typeface="Comic Sans MS"/>
              <a:cs typeface="Comic Sans MS"/>
              <a:sym typeface="Comic Sans MS"/>
            </a:endParaRPr>
          </a:p>
        </p:txBody>
      </p:sp>
      <p:grpSp>
        <p:nvGrpSpPr>
          <p:cNvPr id="205" name="Google Shape;205;p23"/>
          <p:cNvGrpSpPr/>
          <p:nvPr/>
        </p:nvGrpSpPr>
        <p:grpSpPr>
          <a:xfrm flipH="1" rot="10800000">
            <a:off x="6593205" y="0"/>
            <a:ext cx="5928360" cy="6634480"/>
            <a:chOff x="6095999" y="52996"/>
            <a:chExt cx="6093363" cy="6805005"/>
          </a:xfrm>
        </p:grpSpPr>
        <p:sp>
          <p:nvSpPr>
            <p:cNvPr id="206" name="Google Shape;206;p23"/>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7" name="Google Shape;207;p23"/>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8" name="Google Shape;208;p23"/>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209" name="Google Shape;209;p23"/>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210" name="Google Shape;210;p23"/>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211" name="Google Shape;211;p23"/>
          <p:cNvSpPr/>
          <p:nvPr/>
        </p:nvSpPr>
        <p:spPr>
          <a:xfrm>
            <a:off x="609600" y="3557905"/>
            <a:ext cx="6373495" cy="273050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IActionResult OnGet()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Logic for handling HTTP GET request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1000"/>
              <a:buFont typeface="Arial"/>
              <a:buNone/>
            </a:pPr>
            <a:r>
              <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IActionResult OnPost()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Logic for handling HTTP POST request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4"/>
          <p:cNvSpPr/>
          <p:nvPr/>
        </p:nvSpPr>
        <p:spPr>
          <a:xfrm>
            <a:off x="609600" y="3372485"/>
            <a:ext cx="6373495" cy="273050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async Task&lt;IActionResult&gt; OnGetAsync()</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Asynchronous logic for handling HTTP GET request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1000"/>
              <a:buFont typeface="Arial"/>
              <a:buNone/>
            </a:pPr>
            <a:r>
              <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async Task&lt;IActionResult&gt; OnPostAsync()</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Asynchronous logic for handling HTTP POST request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p:txBody>
      </p:sp>
      <p:sp>
        <p:nvSpPr>
          <p:cNvPr id="217" name="Google Shape;217;p2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Page Events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218" name="Google Shape;218;p24"/>
          <p:cNvSpPr/>
          <p:nvPr/>
        </p:nvSpPr>
        <p:spPr>
          <a:xfrm>
            <a:off x="609600" y="1165860"/>
            <a:ext cx="6373495" cy="197802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OnGetAsync and OnPostAsync: Similar to OnGet and OnPost, these events are asynchronous versions and allow you to perform async operations during the request handling.</a:t>
            </a:r>
            <a:endParaRPr b="0" i="0" sz="1600" u="none" cap="none" strike="noStrike">
              <a:solidFill>
                <a:schemeClr val="lt1"/>
              </a:solidFill>
              <a:latin typeface="Comic Sans MS"/>
              <a:ea typeface="Comic Sans MS"/>
              <a:cs typeface="Comic Sans MS"/>
              <a:sym typeface="Comic Sans MS"/>
            </a:endParaRPr>
          </a:p>
        </p:txBody>
      </p:sp>
      <p:grpSp>
        <p:nvGrpSpPr>
          <p:cNvPr id="219" name="Google Shape;219;p24"/>
          <p:cNvGrpSpPr/>
          <p:nvPr/>
        </p:nvGrpSpPr>
        <p:grpSpPr>
          <a:xfrm flipH="1" rot="10800000">
            <a:off x="6593205" y="0"/>
            <a:ext cx="5928360" cy="6634480"/>
            <a:chOff x="6095999" y="52996"/>
            <a:chExt cx="6093363" cy="6805005"/>
          </a:xfrm>
        </p:grpSpPr>
        <p:sp>
          <p:nvSpPr>
            <p:cNvPr id="220" name="Google Shape;220;p24"/>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1" name="Google Shape;221;p24"/>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2" name="Google Shape;222;p24"/>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223" name="Google Shape;223;p24"/>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224" name="Google Shape;224;p24"/>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Page Filters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230" name="Google Shape;230;p27"/>
          <p:cNvSpPr/>
          <p:nvPr/>
        </p:nvSpPr>
        <p:spPr>
          <a:xfrm>
            <a:off x="609600" y="1165860"/>
            <a:ext cx="6373495" cy="22974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Filters are a powerful feature that allow you to add cross-cutting concerns to your application. They enable you to execute code before or after specific stages in the Razor Pages lifecycle or before or after individual page handler methods.</a:t>
            </a:r>
            <a:endParaRPr b="0" i="0" sz="1600" u="none" cap="none" strike="noStrike">
              <a:solidFill>
                <a:schemeClr val="lt1"/>
              </a:solidFill>
              <a:latin typeface="Comic Sans MS"/>
              <a:ea typeface="Comic Sans MS"/>
              <a:cs typeface="Comic Sans MS"/>
              <a:sym typeface="Comic Sans MS"/>
            </a:endParaRPr>
          </a:p>
        </p:txBody>
      </p:sp>
      <p:grpSp>
        <p:nvGrpSpPr>
          <p:cNvPr id="231" name="Google Shape;231;p27"/>
          <p:cNvGrpSpPr/>
          <p:nvPr/>
        </p:nvGrpSpPr>
        <p:grpSpPr>
          <a:xfrm flipH="1" rot="10800000">
            <a:off x="6593205" y="0"/>
            <a:ext cx="5928360" cy="6634480"/>
            <a:chOff x="6095999" y="52996"/>
            <a:chExt cx="6093363" cy="6805005"/>
          </a:xfrm>
        </p:grpSpPr>
        <p:sp>
          <p:nvSpPr>
            <p:cNvPr id="232" name="Google Shape;232;p27"/>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3" name="Google Shape;233;p27"/>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4" name="Google Shape;234;p27"/>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235" name="Google Shape;235;p27"/>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236" name="Google Shape;236;p27"/>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237" name="Google Shape;237;p27"/>
          <p:cNvSpPr/>
          <p:nvPr/>
        </p:nvSpPr>
        <p:spPr>
          <a:xfrm>
            <a:off x="609600" y="3589020"/>
            <a:ext cx="6373495" cy="176022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There are two types of filters in Razor Pages:</a:t>
            </a:r>
            <a:endParaRPr b="0" i="0" sz="1600" u="none" cap="none" strike="noStrike">
              <a:solidFill>
                <a:schemeClr val="lt1"/>
              </a:solidFill>
              <a:latin typeface="Comic Sans MS"/>
              <a:ea typeface="Comic Sans MS"/>
              <a:cs typeface="Comic Sans MS"/>
              <a:sym typeface="Comic Sans MS"/>
            </a:endParaRPr>
          </a:p>
          <a:p>
            <a:pPr indent="-342900" lvl="0" marL="342900" marR="0" rtl="0" algn="l">
              <a:lnSpc>
                <a:spcPct val="140000"/>
              </a:lnSpc>
              <a:spcBef>
                <a:spcPts val="0"/>
              </a:spcBef>
              <a:spcAft>
                <a:spcPts val="0"/>
              </a:spcAft>
              <a:buClr>
                <a:schemeClr val="lt1"/>
              </a:buClr>
              <a:buSzPts val="1600"/>
              <a:buFont typeface="Arial"/>
              <a:buAutoNum type="arabicPeriod"/>
            </a:pPr>
            <a:r>
              <a:rPr b="0" i="0" lang="en-US" sz="1600" u="none" cap="none" strike="noStrike">
                <a:solidFill>
                  <a:schemeClr val="lt1"/>
                </a:solidFill>
                <a:latin typeface="Comic Sans MS"/>
                <a:ea typeface="Comic Sans MS"/>
                <a:cs typeface="Comic Sans MS"/>
                <a:sym typeface="Comic Sans MS"/>
              </a:rPr>
              <a:t>Page Filters</a:t>
            </a:r>
            <a:endParaRPr b="0" i="0" sz="1600" u="none" cap="none" strike="noStrike">
              <a:solidFill>
                <a:schemeClr val="lt1"/>
              </a:solidFill>
              <a:latin typeface="Comic Sans MS"/>
              <a:ea typeface="Comic Sans MS"/>
              <a:cs typeface="Comic Sans MS"/>
              <a:sym typeface="Comic Sans MS"/>
            </a:endParaRPr>
          </a:p>
          <a:p>
            <a:pPr indent="-342900" lvl="0" marL="342900" marR="0" rtl="0" algn="l">
              <a:lnSpc>
                <a:spcPct val="140000"/>
              </a:lnSpc>
              <a:spcBef>
                <a:spcPts val="0"/>
              </a:spcBef>
              <a:spcAft>
                <a:spcPts val="0"/>
              </a:spcAft>
              <a:buClr>
                <a:schemeClr val="lt1"/>
              </a:buClr>
              <a:buSzPts val="1600"/>
              <a:buFont typeface="Arial"/>
              <a:buAutoNum type="arabicPeriod"/>
            </a:pPr>
            <a:r>
              <a:rPr b="0" i="0" lang="en-US" sz="1600" u="none" cap="none" strike="noStrike">
                <a:solidFill>
                  <a:schemeClr val="lt1"/>
                </a:solidFill>
                <a:latin typeface="Comic Sans MS"/>
                <a:ea typeface="Comic Sans MS"/>
                <a:cs typeface="Comic Sans MS"/>
                <a:sym typeface="Comic Sans MS"/>
              </a:rPr>
              <a:t>Handler Filters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p:nvPr/>
        </p:nvSpPr>
        <p:spPr>
          <a:xfrm>
            <a:off x="609600" y="3371850"/>
            <a:ext cx="6391910" cy="229997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2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Handler Filters: These filters are applied at the individual page handler method level and allow you to perform actions before or after a specific handler method is executed. They are defined using attributes and can be used to handle scenarios like input validation, model binding, logging, and so on.</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p:txBody>
      </p:sp>
      <p:sp>
        <p:nvSpPr>
          <p:cNvPr id="243" name="Google Shape;243;p2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Page Filters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244" name="Google Shape;244;p28"/>
          <p:cNvSpPr/>
          <p:nvPr/>
        </p:nvSpPr>
        <p:spPr>
          <a:xfrm>
            <a:off x="609599" y="899160"/>
            <a:ext cx="6391275" cy="212344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just">
              <a:lnSpc>
                <a:spcPct val="12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Page Filters: These filters are applied at the page level and can be used to perform actions before or after the entire page is executed. They are defined using the PageModel base class and can be used to handle scenarios like authentication, authorization, logging, caching, and so on.</a:t>
            </a:r>
            <a:endParaRPr b="0" i="0" sz="1600" u="none" cap="none" strike="noStrike">
              <a:solidFill>
                <a:schemeClr val="lt1"/>
              </a:solidFill>
              <a:latin typeface="Comic Sans MS"/>
              <a:ea typeface="Comic Sans MS"/>
              <a:cs typeface="Comic Sans MS"/>
              <a:sym typeface="Comic Sans MS"/>
            </a:endParaRPr>
          </a:p>
          <a:p>
            <a:pPr indent="0" lvl="0" marL="0" marR="0" rtl="0" algn="just">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p:txBody>
      </p:sp>
      <p:grpSp>
        <p:nvGrpSpPr>
          <p:cNvPr id="245" name="Google Shape;245;p28"/>
          <p:cNvGrpSpPr/>
          <p:nvPr/>
        </p:nvGrpSpPr>
        <p:grpSpPr>
          <a:xfrm flipH="1" rot="10800000">
            <a:off x="6572250" y="0"/>
            <a:ext cx="5928360" cy="6634480"/>
            <a:chOff x="6095999" y="52996"/>
            <a:chExt cx="6093363" cy="6805005"/>
          </a:xfrm>
        </p:grpSpPr>
        <p:sp>
          <p:nvSpPr>
            <p:cNvPr id="246" name="Google Shape;246;p28"/>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7" name="Google Shape;247;p28"/>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8" name="Google Shape;248;p28"/>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249" name="Google Shape;249;p28"/>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250" name="Google Shape;250;p28"/>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Page Validations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256" name="Google Shape;256;p29"/>
          <p:cNvSpPr/>
          <p:nvPr/>
        </p:nvSpPr>
        <p:spPr>
          <a:xfrm>
            <a:off x="532765" y="1417955"/>
            <a:ext cx="5916295" cy="154559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In Razor Pages, you can perform validations on user input to ensure that the data entered by the user meets certain criteria or constraints. </a:t>
            </a:r>
            <a:endParaRPr b="0" i="0" sz="1600" u="none" cap="none" strike="noStrike">
              <a:solidFill>
                <a:schemeClr val="lt1"/>
              </a:solidFill>
              <a:latin typeface="Comic Sans MS"/>
              <a:ea typeface="Comic Sans MS"/>
              <a:cs typeface="Comic Sans MS"/>
              <a:sym typeface="Comic Sans MS"/>
            </a:endParaRPr>
          </a:p>
        </p:txBody>
      </p:sp>
      <p:grpSp>
        <p:nvGrpSpPr>
          <p:cNvPr id="257" name="Google Shape;257;p29"/>
          <p:cNvGrpSpPr/>
          <p:nvPr/>
        </p:nvGrpSpPr>
        <p:grpSpPr>
          <a:xfrm flipH="1" rot="10800000">
            <a:off x="6572250" y="0"/>
            <a:ext cx="5928360" cy="6634480"/>
            <a:chOff x="6095999" y="52996"/>
            <a:chExt cx="6093363" cy="6805005"/>
          </a:xfrm>
        </p:grpSpPr>
        <p:sp>
          <p:nvSpPr>
            <p:cNvPr id="258" name="Google Shape;258;p29"/>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9" name="Google Shape;259;p29"/>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0" name="Google Shape;260;p29"/>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261" name="Google Shape;261;p29"/>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262" name="Google Shape;262;p29"/>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263" name="Google Shape;263;p29"/>
          <p:cNvSpPr/>
          <p:nvPr/>
        </p:nvSpPr>
        <p:spPr>
          <a:xfrm>
            <a:off x="532765" y="3287395"/>
            <a:ext cx="5916295" cy="105473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There are various ways to implement validations in Razor Pages, including client-side and server-side validations.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0"/>
          <p:cNvSpPr/>
          <p:nvPr/>
        </p:nvSpPr>
        <p:spPr>
          <a:xfrm>
            <a:off x="760095" y="3571875"/>
            <a:ext cx="7004685" cy="164719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&lt;input asp-for="Name" data-val="true" data-val-required="The Name field is required" /&gt;</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&lt;span asp-validation-for="Name"&gt;&lt;/span&gt;</a:t>
            </a:r>
            <a:endParaRPr b="0" i="0" sz="1200" u="none" cap="none" strike="noStrike">
              <a:solidFill>
                <a:srgbClr val="002060"/>
              </a:solidFill>
              <a:latin typeface="Arial"/>
              <a:ea typeface="Arial"/>
              <a:cs typeface="Arial"/>
              <a:sym typeface="Arial"/>
            </a:endParaRPr>
          </a:p>
        </p:txBody>
      </p:sp>
      <p:sp>
        <p:nvSpPr>
          <p:cNvPr id="269" name="Google Shape;269;p3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Client Side Validation</a:t>
            </a:r>
            <a:endParaRPr>
              <a:solidFill>
                <a:srgbClr val="012D86"/>
              </a:solidFill>
              <a:latin typeface="Bell MT"/>
              <a:ea typeface="Bell MT"/>
              <a:cs typeface="Bell MT"/>
              <a:sym typeface="Bell MT"/>
            </a:endParaRPr>
          </a:p>
        </p:txBody>
      </p:sp>
      <p:sp>
        <p:nvSpPr>
          <p:cNvPr id="270" name="Google Shape;270;p30"/>
          <p:cNvSpPr/>
          <p:nvPr/>
        </p:nvSpPr>
        <p:spPr>
          <a:xfrm>
            <a:off x="760095" y="1417955"/>
            <a:ext cx="5163185" cy="201104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Required Fields: You can use the data-val-required and data-val attributes to mark fields as required. Razor Pages automatically generates the necessary JavaScript validation code based on these attributes.</a:t>
            </a:r>
            <a:endParaRPr b="0" i="0" sz="1600" u="none" cap="none" strike="noStrike">
              <a:solidFill>
                <a:schemeClr val="lt1"/>
              </a:solidFill>
              <a:latin typeface="Comic Sans MS"/>
              <a:ea typeface="Comic Sans MS"/>
              <a:cs typeface="Comic Sans MS"/>
              <a:sym typeface="Comic Sans MS"/>
            </a:endParaRPr>
          </a:p>
        </p:txBody>
      </p:sp>
      <p:pic>
        <p:nvPicPr>
          <p:cNvPr descr="Aitrich-Logo-Transparent-BG-2048x671" id="271" name="Google Shape;271;p30"/>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grpSp>
        <p:nvGrpSpPr>
          <p:cNvPr id="272" name="Google Shape;272;p30"/>
          <p:cNvGrpSpPr/>
          <p:nvPr/>
        </p:nvGrpSpPr>
        <p:grpSpPr>
          <a:xfrm flipH="1" rot="10800000">
            <a:off x="6582410" y="635"/>
            <a:ext cx="5928360" cy="6857365"/>
            <a:chOff x="6095999" y="52996"/>
            <a:chExt cx="6093363" cy="6805005"/>
          </a:xfrm>
        </p:grpSpPr>
        <p:sp>
          <p:nvSpPr>
            <p:cNvPr id="273" name="Google Shape;273;p30"/>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4" name="Google Shape;274;p30"/>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5" name="Google Shape;275;p30"/>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276" name="Google Shape;276;p30"/>
          <p:cNvPicPr preferRelativeResize="0"/>
          <p:nvPr>
            <p:ph idx="1" type="body"/>
          </p:nvPr>
        </p:nvPicPr>
        <p:blipFill rotWithShape="1">
          <a:blip r:embed="rId4">
            <a:alphaModFix/>
          </a:blip>
          <a:srcRect b="0" l="0" r="0" t="0"/>
          <a:stretch/>
        </p:blipFill>
        <p:spPr>
          <a:xfrm>
            <a:off x="7687945" y="1165860"/>
            <a:ext cx="4566285" cy="37134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1"/>
          <p:cNvSpPr/>
          <p:nvPr/>
        </p:nvSpPr>
        <p:spPr>
          <a:xfrm>
            <a:off x="1971040" y="3612515"/>
            <a:ext cx="5280025" cy="228727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public class MyModel</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    [Required]</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    public string Name { get; set; }</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1200"/>
              <a:buFont typeface="Arial"/>
              <a:buNone/>
            </a:pPr>
            <a:r>
              <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    [Range(18, 99)]</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    public int Age { get; set; }</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a:t>
            </a:r>
            <a:endParaRPr b="0" i="0" sz="1200" u="none" cap="none" strike="noStrike">
              <a:solidFill>
                <a:srgbClr val="002060"/>
              </a:solidFill>
              <a:latin typeface="Arial"/>
              <a:ea typeface="Arial"/>
              <a:cs typeface="Arial"/>
              <a:sym typeface="Arial"/>
            </a:endParaRPr>
          </a:p>
        </p:txBody>
      </p:sp>
      <p:sp>
        <p:nvSpPr>
          <p:cNvPr id="282" name="Google Shape;282;p3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Client Side Validation</a:t>
            </a:r>
            <a:endParaRPr>
              <a:solidFill>
                <a:srgbClr val="012D86"/>
              </a:solidFill>
              <a:latin typeface="Bell MT"/>
              <a:ea typeface="Bell MT"/>
              <a:cs typeface="Bell MT"/>
              <a:sym typeface="Bell MT"/>
            </a:endParaRPr>
          </a:p>
        </p:txBody>
      </p:sp>
      <p:pic>
        <p:nvPicPr>
          <p:cNvPr descr="Aitrich-Logo-Transparent-BG-2048x671" id="283" name="Google Shape;283;p31"/>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284" name="Google Shape;284;p31"/>
          <p:cNvSpPr/>
          <p:nvPr/>
        </p:nvSpPr>
        <p:spPr>
          <a:xfrm>
            <a:off x="770255" y="1417955"/>
            <a:ext cx="5163185" cy="201041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Data Type Validations: You can use data annotations on your model properties to specify the expected data types, such as [Required], [StringLength], [Range], etc.</a:t>
            </a:r>
            <a:endParaRPr b="0" i="0" sz="1600" u="none" cap="none" strike="noStrike">
              <a:solidFill>
                <a:schemeClr val="lt1"/>
              </a:solidFill>
              <a:latin typeface="Comic Sans MS"/>
              <a:ea typeface="Comic Sans MS"/>
              <a:cs typeface="Comic Sans MS"/>
              <a:sym typeface="Comic Sans MS"/>
            </a:endParaRPr>
          </a:p>
        </p:txBody>
      </p:sp>
      <p:grpSp>
        <p:nvGrpSpPr>
          <p:cNvPr id="285" name="Google Shape;285;p31"/>
          <p:cNvGrpSpPr/>
          <p:nvPr/>
        </p:nvGrpSpPr>
        <p:grpSpPr>
          <a:xfrm flipH="1" rot="10800000">
            <a:off x="6582410" y="635"/>
            <a:ext cx="5928360" cy="6857365"/>
            <a:chOff x="6095999" y="52996"/>
            <a:chExt cx="6093363" cy="6805005"/>
          </a:xfrm>
        </p:grpSpPr>
        <p:sp>
          <p:nvSpPr>
            <p:cNvPr id="286" name="Google Shape;286;p31"/>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87" name="Google Shape;287;p31"/>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88" name="Google Shape;288;p31"/>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289" name="Google Shape;289;p31"/>
          <p:cNvPicPr preferRelativeResize="0"/>
          <p:nvPr>
            <p:ph idx="1" type="body"/>
          </p:nvPr>
        </p:nvPicPr>
        <p:blipFill rotWithShape="1">
          <a:blip r:embed="rId4">
            <a:alphaModFix/>
          </a:blip>
          <a:srcRect b="0" l="0" r="0" t="0"/>
          <a:stretch/>
        </p:blipFill>
        <p:spPr>
          <a:xfrm>
            <a:off x="7687945" y="1165860"/>
            <a:ext cx="4566285" cy="37134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2"/>
          <p:cNvSpPr/>
          <p:nvPr/>
        </p:nvSpPr>
        <p:spPr>
          <a:xfrm>
            <a:off x="1971040" y="3612515"/>
            <a:ext cx="5280025" cy="228727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IActionResult OnPost()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if (!ModelState.IsValid)</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1000"/>
              <a:buFont typeface="Arial"/>
              <a:buNone/>
            </a:pPr>
            <a:r>
              <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Process valid data</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RedirectToPage("Success");</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p:txBody>
      </p:sp>
      <p:sp>
        <p:nvSpPr>
          <p:cNvPr id="295" name="Google Shape;295;p3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Server Side Validation</a:t>
            </a:r>
            <a:endParaRPr>
              <a:solidFill>
                <a:srgbClr val="012D86"/>
              </a:solidFill>
              <a:latin typeface="Bell MT"/>
              <a:ea typeface="Bell MT"/>
              <a:cs typeface="Bell MT"/>
              <a:sym typeface="Bell MT"/>
            </a:endParaRPr>
          </a:p>
        </p:txBody>
      </p:sp>
      <p:sp>
        <p:nvSpPr>
          <p:cNvPr id="296" name="Google Shape;296;p32"/>
          <p:cNvSpPr/>
          <p:nvPr/>
        </p:nvSpPr>
        <p:spPr>
          <a:xfrm>
            <a:off x="760095" y="1417955"/>
            <a:ext cx="5296535" cy="201104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ModelState: Razor Pages automatically validates the model state during model binding. You can check for validation errors using the ModelState.IsValid property and display error messages in your Razor Pages.</a:t>
            </a:r>
            <a:endParaRPr b="0" i="0" sz="1600" u="none" cap="none" strike="noStrike">
              <a:solidFill>
                <a:schemeClr val="lt1"/>
              </a:solidFill>
              <a:latin typeface="Comic Sans MS"/>
              <a:ea typeface="Comic Sans MS"/>
              <a:cs typeface="Comic Sans MS"/>
              <a:sym typeface="Comic Sans MS"/>
            </a:endParaRPr>
          </a:p>
        </p:txBody>
      </p:sp>
      <p:pic>
        <p:nvPicPr>
          <p:cNvPr descr="Aitrich-Logo-Transparent-BG-2048x671" id="297" name="Google Shape;297;p32"/>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grpSp>
        <p:nvGrpSpPr>
          <p:cNvPr id="298" name="Google Shape;298;p32"/>
          <p:cNvGrpSpPr/>
          <p:nvPr/>
        </p:nvGrpSpPr>
        <p:grpSpPr>
          <a:xfrm flipH="1" rot="10800000">
            <a:off x="6582410" y="635"/>
            <a:ext cx="5928360" cy="6857365"/>
            <a:chOff x="6095999" y="52996"/>
            <a:chExt cx="6093363" cy="6805005"/>
          </a:xfrm>
        </p:grpSpPr>
        <p:sp>
          <p:nvSpPr>
            <p:cNvPr id="299" name="Google Shape;299;p32"/>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0" name="Google Shape;300;p32"/>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1" name="Google Shape;301;p32"/>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302" name="Google Shape;302;p32"/>
          <p:cNvPicPr preferRelativeResize="0"/>
          <p:nvPr>
            <p:ph idx="1" type="body"/>
          </p:nvPr>
        </p:nvPicPr>
        <p:blipFill rotWithShape="1">
          <a:blip r:embed="rId4">
            <a:alphaModFix/>
          </a:blip>
          <a:srcRect b="0" l="0" r="0" t="0"/>
          <a:stretch/>
        </p:blipFill>
        <p:spPr>
          <a:xfrm>
            <a:off x="7687945" y="1165860"/>
            <a:ext cx="4566285" cy="37134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3"/>
          <p:cNvSpPr/>
          <p:nvPr/>
        </p:nvSpPr>
        <p:spPr>
          <a:xfrm>
            <a:off x="1682115" y="3747135"/>
            <a:ext cx="5548630" cy="294767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public class CustomValidationAttribute : ValidationAttribute</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protected override ValidationResult IsValid(object value, ValidationContext validationContext)</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 Custom validation logic</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if (/* validation fails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return new ValidationResult("Validation failed");</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700"/>
              <a:buFont typeface="Arial"/>
              <a:buNone/>
            </a:pPr>
            <a:r>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return ValidationResult.Success;</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700"/>
              <a:buFont typeface="Arial"/>
              <a:buNone/>
            </a:pPr>
            <a:r>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public class MyModel</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[CustomValidation]</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public string SomeProperty { get; set;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a:t>
            </a:r>
            <a:endParaRPr b="0" i="0" sz="700" u="none" cap="none" strike="noStrike">
              <a:solidFill>
                <a:srgbClr val="002060"/>
              </a:solidFill>
              <a:latin typeface="Arial"/>
              <a:ea typeface="Arial"/>
              <a:cs typeface="Arial"/>
              <a:sym typeface="Arial"/>
            </a:endParaRPr>
          </a:p>
        </p:txBody>
      </p:sp>
      <p:sp>
        <p:nvSpPr>
          <p:cNvPr id="308" name="Google Shape;308;p3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Server Side Validation</a:t>
            </a:r>
            <a:endParaRPr>
              <a:solidFill>
                <a:srgbClr val="012D86"/>
              </a:solidFill>
              <a:latin typeface="Bell MT"/>
              <a:ea typeface="Bell MT"/>
              <a:cs typeface="Bell MT"/>
              <a:sym typeface="Bell MT"/>
            </a:endParaRPr>
          </a:p>
        </p:txBody>
      </p:sp>
      <p:pic>
        <p:nvPicPr>
          <p:cNvPr descr="Aitrich-Logo-Transparent-BG-2048x671" id="309" name="Google Shape;309;p33"/>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310" name="Google Shape;310;p33"/>
          <p:cNvSpPr/>
          <p:nvPr/>
        </p:nvSpPr>
        <p:spPr>
          <a:xfrm>
            <a:off x="728980" y="1290320"/>
            <a:ext cx="5296535" cy="217487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Custom Validations: You can create custom validation attributes by deriving from the ValidationAttribute class and overriding the IsValid method. This allows you to implement custom validation logic based on your requirements.</a:t>
            </a:r>
            <a:endParaRPr b="0" i="0" sz="1600" u="none" cap="none" strike="noStrike">
              <a:solidFill>
                <a:schemeClr val="lt1"/>
              </a:solidFill>
              <a:latin typeface="Comic Sans MS"/>
              <a:ea typeface="Comic Sans MS"/>
              <a:cs typeface="Comic Sans MS"/>
              <a:sym typeface="Comic Sans MS"/>
            </a:endParaRPr>
          </a:p>
        </p:txBody>
      </p:sp>
      <p:grpSp>
        <p:nvGrpSpPr>
          <p:cNvPr id="311" name="Google Shape;311;p33"/>
          <p:cNvGrpSpPr/>
          <p:nvPr/>
        </p:nvGrpSpPr>
        <p:grpSpPr>
          <a:xfrm flipH="1" rot="10800000">
            <a:off x="6582410" y="635"/>
            <a:ext cx="5928360" cy="6857365"/>
            <a:chOff x="6095999" y="52996"/>
            <a:chExt cx="6093363" cy="6805005"/>
          </a:xfrm>
        </p:grpSpPr>
        <p:sp>
          <p:nvSpPr>
            <p:cNvPr id="312" name="Google Shape;312;p33"/>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3" name="Google Shape;313;p33"/>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4" name="Google Shape;314;p33"/>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315" name="Google Shape;315;p33"/>
          <p:cNvPicPr preferRelativeResize="0"/>
          <p:nvPr>
            <p:ph idx="1" type="body"/>
          </p:nvPr>
        </p:nvPicPr>
        <p:blipFill rotWithShape="1">
          <a:blip r:embed="rId4">
            <a:alphaModFix/>
          </a:blip>
          <a:srcRect b="0" l="0" r="0" t="0"/>
          <a:stretch/>
        </p:blipFill>
        <p:spPr>
          <a:xfrm>
            <a:off x="7687945" y="1165860"/>
            <a:ext cx="4566285" cy="37134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0"/>
                                        <p:tgtEl>
                                          <p:spTgt spid="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descr="tnq" id="320" name="Google Shape;320;p34"/>
          <p:cNvPicPr preferRelativeResize="0"/>
          <p:nvPr>
            <p:ph idx="1" type="body"/>
          </p:nvPr>
        </p:nvPicPr>
        <p:blipFill rotWithShape="1">
          <a:blip r:embed="rId3">
            <a:alphaModFix/>
          </a:blip>
          <a:srcRect b="0" l="0" r="0" t="0"/>
          <a:stretch/>
        </p:blipFill>
        <p:spPr>
          <a:xfrm>
            <a:off x="2742565" y="1253490"/>
            <a:ext cx="6706235" cy="435165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2023-05-03T10:53:00Z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9602C5F5F950426E9C51E70BE35998BB</vt:lpwstr>
  </property>
  <property fmtid="{D5CDD505-2E9C-101B-9397-08002B2CF9AE}" pid="3" name="KSOProductBuildVer">
    <vt:lpwstr>1033-11.2.0.11537</vt:lpwstr>
  </property>
</Properties>
</file>